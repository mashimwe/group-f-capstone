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1.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6fdb6dd4-07b8-c6ee-3d58-7e23f0f0cadd}">
          <p14:sldIdLst>
            <p14:sldId id="256"/>
            <p14:sldId id="257"/>
            <p14:sldId id="258"/>
            <p14:sldId id="259"/>
          </p14:sldIdLst>
        </p14:section>
        <p14:section name="Demo" id="{138364aa-ae7d-7127-ddf3-257c170105a1}">
          <p14:sldIdLst>
            <p14:sldId id="260"/>
          </p14:sldIdLst>
        </p14:section>
        <p14:section name="Evidence" id="{fdb4f0b9-7b9d-872d-6c96-996b7763a165}">
          <p14:sldIdLst>
            <p14:sldId id="261"/>
            <p14:sldId id="262"/>
            <p14:sldId id="263"/>
          </p14:sldIdLst>
        </p14:section>
        <p14:section name="Reflection" id="{ecc10a97-7471-84aa-e743-657832bb57f6}">
          <p14:sldIdLst>
            <p14:sldId id="264"/>
            <p14:sldId id="265"/>
            <p14:sldId id="266"/>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Pass rate (%)</c:v>
                </c:pt>
              </c:strCache>
            </c:strRef>
          </c:tx>
          <c:spPr>
            <a:solidFill>
              <a:srgbClr val="8D99AE"/>
            </a:solidFill>
            <a:effectLst/>
          </c:spPr>
          <c:invertIfNegative val="0"/>
          <c:dLbls>
            <c:numFmt formatCode="0.0&quot;%&quot;" sourceLinked="0"/>
            <c:txPr>
              <a:bodyPr/>
              <a:lstStyle/>
              <a:p>
                <a:pPr>
                  <a:defRPr b="0" i="0" strike="noStrike" sz="1100" u="none">
                    <a:solidFill>
                      <a:srgbClr val="0B1F33"/>
                    </a:solidFill>
                    <a:latin typeface="+mn-lt"/>
                  </a:defRPr>
                </a:pPr>
              </a:p>
            </c:txPr>
            <c:showLegendKey val="0"/>
            <c:showVal val="1"/>
            <c:showCatName val="0"/>
            <c:showSerName val="0"/>
            <c:showPercent val="0"/>
            <c:showBubbleSize val="0"/>
            <c:showLeaderLines val="0"/>
          </c:dLbls>
          <c:dPt>
            <c:idx val="0"/>
            <c:invertIfNegative val="0"/>
            <c:bubble3D val="0"/>
            <c:spPr>
              <a:solidFill>
                <a:srgbClr val="8D99AE"/>
              </a:solidFill>
              <a:effectLst/>
            </c:spPr>
          </c:dPt>
          <c:dPt>
            <c:idx val="1"/>
            <c:invertIfNegative val="0"/>
            <c:bubble3D val="0"/>
            <c:spPr>
              <a:solidFill>
                <a:srgbClr val="1F7A8C"/>
              </a:solidFill>
              <a:effectLst/>
            </c:spPr>
          </c:dPt>
          <c:dPt>
            <c:idx val="2"/>
            <c:invertIfNegative val="0"/>
            <c:bubble3D val="0"/>
            <c:spPr>
              <a:solidFill>
                <a:srgbClr val="8D99AE"/>
              </a:solidFill>
              <a:effectLst/>
            </c:spPr>
          </c:dPt>
          <c:dPt>
            <c:idx val="3"/>
            <c:invertIfNegative val="0"/>
            <c:bubble3D val="0"/>
            <c:spPr>
              <a:solidFill>
                <a:srgbClr val="C8553D"/>
              </a:solidFill>
              <a:effectLst/>
            </c:spPr>
          </c:dPt>
          <c:cat>
            <c:multiLvlStrRef>
              <c:f>Sheet1!$A$2:$A$5</c:f>
              <c:multiLvlStrCache>
                <c:ptCount val="4"/>
                <c:lvl>
                  <c:pt idx="0">
                    <c:v>Dev set
before fixes</c:v>
                  </c:pt>
                  <c:pt idx="1">
                    <c:v>Dev set
after fixes</c:v>
                  </c:pt>
                  <c:pt idx="2">
                    <c:v>Held-out
first run</c:v>
                  </c:pt>
                  <c:pt idx="3">
                    <c:v>Held-out
after fixes</c:v>
                  </c:pt>
                </c:lvl>
              </c:multiLvlStrCache>
            </c:multiLvlStrRef>
          </c:cat>
          <c:val>
            <c:numRef>
              <c:f>Sheet1!$B$2:$B$5</c:f>
              <c:numCache>
                <c:formatCode>General</c:formatCode>
                <c:ptCount val="4"/>
                <c:pt idx="0">
                  <c:v>54.3</c:v>
                </c:pt>
                <c:pt idx="1">
                  <c:v>95.7</c:v>
                </c:pt>
                <c:pt idx="2">
                  <c:v>55</c:v>
                </c:pt>
                <c:pt idx="3">
                  <c:v>70</c:v>
                </c:pt>
              </c:numCache>
            </c:numRef>
          </c:val>
        </c:ser>
        <c:dLbls>
          <c:numFmt formatCode="0.0&quot;%&quot;" sourceLinked="0"/>
          <c:txPr>
            <a:bodyPr/>
            <a:lstStyle/>
            <a:p>
              <a:pPr>
                <a:defRPr b="0" i="0" strike="noStrike" sz="1100" u="none">
                  <a:solidFill>
                    <a:srgbClr val="0B1F33"/>
                  </a:solidFill>
                  <a:latin typeface="+mn-lt"/>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0B1F33"/>
                </a:solidFill>
                <a:latin typeface="+mn-lt"/>
              </a:defRPr>
            </a:pPr>
            <a:endParaRPr lang="en-US"/>
          </a:p>
        </c:txPr>
        <c:crossAx val="2094734552"/>
        <c:crosses val="autoZero"/>
        <c:auto val="1"/>
        <c:lblAlgn val="ctr"/>
        <c:noMultiLvlLbl val="1"/>
      </c:catAx>
      <c:valAx>
        <c:axId val="2094734552"/>
        <c:scaling>
          <c:orientation val="minMax"/>
          <c:max val="110"/>
          <c:min val="0"/>
        </c:scaling>
        <c:delete val="0"/>
        <c:axPos val="l"/>
        <c:majorGridlines>
          <c:spPr>
            <a:ln w="6350" cap="flat">
              <a:solidFill>
                <a:srgbClr val="E3E8EF"/>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6B7788"/>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0:00 to 0:20.
Introduce the group and the project in one sentence: ServiceFlow is a help-desk triage agent for internet customers that is deliberately bounded. The tagline is the whole design philosophy: the model only suggests a category, deterministic software decides what happens, and a human approves anything with consequences. Say what the next 14 minutes contain: the problem, the design, a live demo, the evidence behind it, what still fails, and what we learned.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0:20 to 1:30.
The problem is simple and familiar. Customers cannot tell whether the fault is in their own equipment or in the network, and support repeats the same first questions. The interesting engineering question is not 'can an AI answer this?' but 'how do we let an AI help without letting it do damage?'. The box on the right is our scope boundary from Week 1: no infrastructure changes, no self-approval, no outage claims without evidence, no tools outside a fixed list. Everything in the rest of the talk is about enforcing those four lines.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1:30 to 3:00.
Walk the diagram left to right, top to bottom. A message passes input guardrails, then the classifier, which is the only model call. The bounded agent loop then chooses among three capabilities: retrieval over fifteen cited guides, a read-only outage tool, and a ticket tool. Replies are composed deterministically, checked again by output guardrails and written to a trace. Three pillars: the model only classifies; software decides everything else; humans approve consequences. Point out the deliberate deviation from our Week 1 matrix: we planned for the model to choose actions and write text, and chose not to ship that because deterministic behaviour is testable. That is a trade-off we can defend and it is also a limitation.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3:00 to 3:40.
One sentence per layer, do not linger. The point is the method: every layer was tested before the next was added, which is why the failures we found later were findable. Then the honesty note, because it matters: during the final review we found that the model recommended in Week 2 had already been shut down on 1 June 2026, and that some Week 2 documents described testing that nobody had actually run. We corrected both and we list them in the report. Say this plainly; it is a strength of the process, not a confession.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3:40 to 7:40 (4 minutes). Run  SERVICEFLOW_CLASSIFIER=keyword python src/run_demo.py  in a terminal that is already open and sized up. With a Gemini key set and no override it will use Gemini and the trace will say so.
SCENE 1: a grounded answer; point at [Source: doc07] and the retrieval score.
SCENE 2: the outage tool; the answer comes from the tool, not from the AI.
SCENE 3: 'my internet is bad' gets a clarifying question; the reply continues the same case.
SCENE 4: no guide matched, so a ticket is created as pending_approval; then the human step: approve_ticket is a separate function the agent cannot call.
SCENE 5: outage service down; two attempts, no third; it falls back and tells the customer the check failed.
SCENE 6: the injection is blocked before the agent runs.
SCENE 7: the real failure: 'No wifi.' returns a router factory-reset guide. Say: this is failure FC-10, we know about it, we did not hide it.
IF THE DEMO FAILS: open evidence/demo/demo_transcript.txt and read the same scenes from it. Do not debug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7:40 to 9:10 (about 1.5 minutes).
This is the engineering evidence view the brief asks for. Left: a real trace from scenario T01, where the outage service is down. Read it: classified as a possible outage, called the tool, it failed, retried once, failed again, stopped retrying as designed, fell back to retrieval, and the reply tells the customer the check could not be completed. Right: what a trace captures and what it does not (no raw customer text). Say that traces are how we found faults: the four-times retry loop in Week 7 was visible in a trace before it was visible anywhere else. Be candid about the gap: model token counts and model latency are not captured yet because the model is not called in offline runs.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9:10 to 10:10 (1 minute).
The key idea: the controls that matter do not depend on the model behaving. If the model is fooled, it still cannot call a tool outside the list, cannot create a ticket without a verified session, and cannot approve anything. We tested the guardrails by mutation: we deliberately broke the code six ways, for example removing the authorization check, auto-creating tickets and reverting to the shut-down model, and each one made a test fail. Zero safety violations across all 66 scenarios on the final code. Do not claim the system is secure; claim that the impact of a failure is contained.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10:10 to 11:20 (about 1 minute).
The chart makes one point. In Week 7 we reported 44 out of 46, which is 95.7 percent, up from 25 out of 46. That number is optimistic because we fixed things against the same scenarios. So in Week 8 we wrote twenty new scenarios in natural phrasing, fixed expectations first, and ran them once: 55 percent. After fixes it is 70 percent, but three of those scenarios drove fixes so that number is not clean. Say clearly that the honest generalisation estimate is the 55 percent, and that all six remaining held-out failures are the offline keyword classifier's vocabulary; they fail safely by asking a question. Gemini's accuracy is the next thing to measure and we have a script for it, but we have not run it with a key yet. If anyone asks: yes, we know that is a gap, and it is in the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11:20 to 12:50 (about 1.5 minutes).
This is the failure and limitation slide the brief requires. Three real, open problems. First, 'No wifi.' returns a cited but wrong guide because retrieval is lexical; we saw it live in scene 7. Second, the offline keyword classifier misses natural phrasing; that accounts for six of the nine held-out failures and it fails safely. Third, an injection phrased as a pure paraphrase is not caught by our rules; the damage is contained by the structural controls. The closing strip is the stance: we could have added keywords until the held-out set passed, but then it would no longer be held-out. Be ready for the question 'why not just fix it?': because tuning to the test set would have made the number look better and the system no better.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12:50 to 14:00 (about 1 minute).
Four lessons, each tied to something that actually happened. Verify AI output: we used an AI assistant heavily, and reviewing its work found a recommended model that was already shut down, project text describing tests that had not been run, an evaluation check that mis-scored responses, knowledge-base guides written for staff but shown to customers, and fixes that caused regressions. Hold data out. Re-test after every fix. Make control structural. Be honest that AI assistance was used throughout and that the team's job is to be accountable for it: we can run, explain and defend every claim in the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14:00 to 14:30.
Keep it brief. The first step is the most important and the most honest: we have verified the model integration at contract level against the real SDK, but we have not measured Gemini's accuracy live. Then retrieval, injection defence, and the habit of a fresh held-out set each cycle.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14:30 onward.
Stop talking and invite questions. Likely questions and where the answers are: Why not let the model choose actions? (Appendix B: testability and safety trade-off.) How do you know the guardrails work? (mutation checks, 79 tests.) Is the Gemini part working? (contract-tested against the real SDK; live accuracy not yet measured; the script is ready.) Why is the held-out score lower? (we tuned to the dev set; this is the honest number.) What would you do with real customer data? (not with the free tier; paid tier or local model, privacy review, retention policy.)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0B1F33"/>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_CONTENT">
    <p:bg>
      <p:bgPr>
        <a:solidFill>
          <a:srgbClr val="0B1F33"/>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02920" y="320040"/>
            <a:ext cx="8138160" cy="731520"/>
          </a:xfrm>
          <a:prstGeom prst="rect">
            <a:avLst/>
          </a:prstGeom>
          <a:noFill/>
          <a:ln/>
        </p:spPr>
        <p:txBody>
          <a:bodyPr wrap="square" rtlCol="0"/>
          <a:lstStyle>
            <a:lvl1pPr indent="0" marL="0">
              <a:buNone/>
              <a:defRPr lang="en-US" sz="2800" b="1" dirty="0">
                <a:solidFill>
                  <a:srgbClr val="FFFFFF"/>
                </a:solidFill>
                <a:latin typeface="Georgia" pitchFamily="34" charset="0"/>
                <a:ea typeface="Georgia" pitchFamily="34" charset="-122"/>
                <a:cs typeface="Georgia" pitchFamily="34" charset="-120"/>
              </a:defRPr>
            </a:lvl1pPr>
          </a:lstStyle>
          <a:p>
            <a:pPr indent="0" marL="0">
              <a:buNone/>
            </a:pPr>
            <a:endParaRPr lang="en-US" sz="2800" dirty="0"/>
          </a:p>
        </p:txBody>
      </p:sp>
      <p:sp>
        <p:nvSpPr>
          <p:cNvPr id="25" name="Slide Number Placeholder 0"/>
          <p:cNvSpPr>
            <a:spLocks noGrp="1"/>
          </p:cNvSpPr>
          <p:nvPr>
            <p:ph type="sldNum" sz="quarter" idx="4294967295"/>
          </p:nvPr>
        </p:nvSpPr>
        <p:spPr>
          <a:xfrm>
            <a:off x="8412480" y="48006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8D99AE"/>
                </a:solidFill>
              </a:defRPr>
            </a:lvl1pPr>
          </a:lstStyle>
          <a:p>
            <a:pPr algn="l"/>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02920" y="274320"/>
            <a:ext cx="8138160" cy="777240"/>
          </a:xfrm>
          <a:prstGeom prst="rect">
            <a:avLst/>
          </a:prstGeom>
          <a:noFill/>
          <a:ln/>
        </p:spPr>
        <p:txBody>
          <a:bodyPr wrap="square" rtlCol="0"/>
          <a:lstStyle>
            <a:lvl1pPr indent="0" marL="0">
              <a:buNone/>
              <a:defRPr lang="en-US" sz="2500" b="1" dirty="0">
                <a:solidFill>
                  <a:srgbClr val="0B1F33"/>
                </a:solidFill>
                <a:latin typeface="Georgia" pitchFamily="34" charset="0"/>
                <a:ea typeface="Georgia" pitchFamily="34" charset="-122"/>
                <a:cs typeface="Georgia" pitchFamily="34" charset="-120"/>
              </a:defRPr>
            </a:lvl1pPr>
          </a:lstStyle>
          <a:p>
            <a:pPr indent="0" marL="0">
              <a:buNone/>
            </a:pPr>
            <a:endParaRPr lang="en-US" sz="2500" dirty="0"/>
          </a:p>
        </p:txBody>
      </p:sp>
      <p:sp>
        <p:nvSpPr>
          <p:cNvPr id="25" name="Slide Number Placeholder 0"/>
          <p:cNvSpPr>
            <a:spLocks noGrp="1"/>
          </p:cNvSpPr>
          <p:nvPr>
            <p:ph type="sldNum" sz="quarter" idx="4294967295"/>
          </p:nvPr>
        </p:nvSpPr>
        <p:spPr>
          <a:xfrm>
            <a:off x="8412480" y="48006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8D99AE"/>
                </a:solidFill>
              </a:defRPr>
            </a:lvl1pPr>
          </a:lstStyle>
          <a:p>
            <a:pPr algn="l"/>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412480" y="48006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8D99AE"/>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4.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4.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4.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4.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4.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4.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bg-circle-large"/>
          <p:cNvSpPr/>
          <p:nvPr/>
        </p:nvSpPr>
        <p:spPr>
          <a:xfrm>
            <a:off x="6309360" y="-822960"/>
            <a:ext cx="4206240" cy="4206240"/>
          </a:xfrm>
          <a:prstGeom prst="ellipse">
            <a:avLst/>
          </a:prstGeom>
          <a:solidFill>
            <a:schemeClr val="accent6"/>
          </a:solidFill>
          <a:ln w="12700">
            <a:solidFill>
              <a:schemeClr val="accent6"/>
            </a:solidFill>
            <a:prstDash val="solid"/>
          </a:ln>
        </p:spPr>
      </p:sp>
      <p:sp>
        <p:nvSpPr>
          <p:cNvPr id="3" name="bg-circle-small"/>
          <p:cNvSpPr/>
          <p:nvPr/>
        </p:nvSpPr>
        <p:spPr>
          <a:xfrm>
            <a:off x="7680960" y="3017520"/>
            <a:ext cx="2377440" cy="2377440"/>
          </a:xfrm>
          <a:prstGeom prst="ellipse">
            <a:avLst/>
          </a:prstGeom>
          <a:solidFill>
            <a:schemeClr val="accent1"/>
          </a:solidFill>
          <a:ln w="12700">
            <a:solidFill>
              <a:schemeClr val="accent1"/>
            </a:solidFill>
            <a:prstDash val="solid"/>
          </a:ln>
        </p:spPr>
      </p:sp>
      <p:pic>
        <p:nvPicPr>
          <p:cNvPr id="4" name="Image 0" descr="Network icon">    </p:cNvPr>
          <p:cNvPicPr>
            <a:picLocks noChangeAspect="1"/>
          </p:cNvPicPr>
          <p:nvPr/>
        </p:nvPicPr>
        <p:blipFill>
          <a:blip r:embed="rId1"/>
          <a:stretch>
            <a:fillRect/>
          </a:stretch>
        </p:blipFill>
        <p:spPr>
          <a:xfrm>
            <a:off x="7086600" y="1417320"/>
            <a:ext cx="1371600" cy="1371600"/>
          </a:xfrm>
          <a:prstGeom prst="rect">
            <a:avLst/>
          </a:prstGeom>
        </p:spPr>
      </p:pic>
      <p:sp>
        <p:nvSpPr>
          <p:cNvPr id="5" name="Text 2"/>
          <p:cNvSpPr txBox="1"/>
          <p:nvPr/>
        </p:nvSpPr>
        <p:spPr>
          <a:xfrm>
            <a:off x="548640" y="1234440"/>
            <a:ext cx="5852160" cy="822960"/>
          </a:xfrm>
          <a:prstGeom prst="rect">
            <a:avLst/>
          </a:prstGeom>
          <a:noFill/>
          <a:ln/>
        </p:spPr>
        <p:txBody>
          <a:bodyPr wrap="square" lIns="0" tIns="0" rIns="0" bIns="0" rtlCol="0" anchor="ctr"/>
          <a:lstStyle/>
          <a:p>
            <a:pPr indent="0" marL="0">
              <a:buNone/>
            </a:pPr>
            <a:r>
              <a:rPr lang="en-US" sz="4800" b="1" dirty="0">
                <a:solidFill>
                  <a:srgbClr val="FFFFFF"/>
                </a:solidFill>
                <a:latin typeface="Georgia" pitchFamily="34" charset="0"/>
                <a:ea typeface="Georgia" pitchFamily="34" charset="-122"/>
                <a:cs typeface="Georgia" pitchFamily="34" charset="-120"/>
              </a:rPr>
              <a:t>ServiceFlow</a:t>
            </a:r>
            <a:endParaRPr lang="en-US" sz="4800" dirty="0"/>
          </a:p>
        </p:txBody>
      </p:sp>
      <p:sp>
        <p:nvSpPr>
          <p:cNvPr id="6" name="Text 3"/>
          <p:cNvSpPr txBox="1"/>
          <p:nvPr/>
        </p:nvSpPr>
        <p:spPr>
          <a:xfrm>
            <a:off x="548640" y="2103120"/>
            <a:ext cx="5669280" cy="822960"/>
          </a:xfrm>
          <a:prstGeom prst="rect">
            <a:avLst/>
          </a:prstGeom>
          <a:noFill/>
          <a:ln/>
        </p:spPr>
        <p:txBody>
          <a:bodyPr wrap="square" lIns="0" tIns="0" rIns="0" bIns="0" rtlCol="0" anchor="ctr"/>
          <a:lstStyle/>
          <a:p>
            <a:pPr indent="0" marL="0">
              <a:buNone/>
            </a:pPr>
            <a:r>
              <a:rPr lang="en-US" sz="2200" dirty="0">
                <a:solidFill>
                  <a:srgbClr val="CADCFC"/>
                </a:solidFill>
                <a:latin typeface="Calibri" pitchFamily="34" charset="0"/>
                <a:ea typeface="Calibri" pitchFamily="34" charset="-122"/>
                <a:cs typeface="Calibri" pitchFamily="34" charset="-120"/>
              </a:rPr>
              <a:t>A bounded, AI-assisted help-desk triage agent</a:t>
            </a:r>
            <a:endParaRPr lang="en-US" sz="2200" dirty="0"/>
          </a:p>
        </p:txBody>
      </p:sp>
      <p:sp>
        <p:nvSpPr>
          <p:cNvPr id="7" name="Text 4"/>
          <p:cNvSpPr txBox="1"/>
          <p:nvPr/>
        </p:nvSpPr>
        <p:spPr>
          <a:xfrm>
            <a:off x="548640" y="3063240"/>
            <a:ext cx="5669280" cy="365760"/>
          </a:xfrm>
          <a:prstGeom prst="rect">
            <a:avLst/>
          </a:prstGeom>
          <a:noFill/>
          <a:ln/>
        </p:spPr>
        <p:txBody>
          <a:bodyPr wrap="square" lIns="0" tIns="0" rIns="0" bIns="0" rtlCol="0" anchor="ctr"/>
          <a:lstStyle/>
          <a:p>
            <a:pPr indent="0" marL="0">
              <a:buNone/>
            </a:pPr>
            <a:r>
              <a:rPr lang="en-US" sz="1500" i="1" dirty="0">
                <a:solidFill>
                  <a:schemeClr val="accent2"/>
                </a:solidFill>
                <a:latin typeface="Calibri" pitchFamily="34" charset="0"/>
                <a:ea typeface="Calibri" pitchFamily="34" charset="-122"/>
                <a:cs typeface="Calibri" pitchFamily="34" charset="-120"/>
              </a:rPr>
              <a:t>The model suggests. Software decides. Humans approve.</a:t>
            </a:r>
            <a:endParaRPr lang="en-US" sz="1500" dirty="0"/>
          </a:p>
        </p:txBody>
      </p:sp>
      <p:sp>
        <p:nvSpPr>
          <p:cNvPr id="8" name="Text 5"/>
          <p:cNvSpPr txBox="1"/>
          <p:nvPr/>
        </p:nvSpPr>
        <p:spPr>
          <a:xfrm>
            <a:off x="548640" y="4343400"/>
            <a:ext cx="6400800" cy="274320"/>
          </a:xfrm>
          <a:prstGeom prst="rect">
            <a:avLst/>
          </a:prstGeom>
          <a:noFill/>
          <a:ln/>
        </p:spPr>
        <p:txBody>
          <a:bodyPr wrap="square" lIns="0" tIns="0" rIns="0" bIns="0" rtlCol="0" anchor="ctr"/>
          <a:lstStyle/>
          <a:p>
            <a:pPr indent="0" marL="0">
              <a:buNone/>
            </a:pPr>
            <a:r>
              <a:rPr lang="en-US" sz="1100" dirty="0">
                <a:solidFill>
                  <a:srgbClr val="8D99AE"/>
                </a:solidFill>
                <a:latin typeface="Calibri" pitchFamily="34" charset="0"/>
                <a:ea typeface="Calibri" pitchFamily="34" charset="-122"/>
                <a:cs typeface="Calibri" pitchFamily="34" charset="-120"/>
              </a:rPr>
              <a:t>Group F · BSE4104 AI-Native &amp; Agentic Engineering Capstone · v1.0.0</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02920" y="274320"/>
            <a:ext cx="8138160" cy="777240"/>
          </a:xfrm>
          <a:prstGeom prst="rect">
            <a:avLst/>
          </a:prstGeom>
          <a:noFill/>
          <a:ln/>
        </p:spPr>
        <p:txBody>
          <a:bodyPr wrap="square" lIns="0" tIns="0" rIns="0" bIns="0" rtlCol="0" anchor="t"/>
          <a:lstStyle/>
          <a:p>
            <a:pPr indent="0" marL="0">
              <a:buNone/>
            </a:pPr>
            <a:r>
              <a:rPr lang="en-US" sz="2500" b="1" dirty="0">
                <a:solidFill>
                  <a:srgbClr val="0B1F33"/>
                </a:solidFill>
                <a:latin typeface="Georgia" pitchFamily="34" charset="0"/>
                <a:ea typeface="Georgia" pitchFamily="34" charset="-122"/>
                <a:cs typeface="Georgia" pitchFamily="34" charset="-120"/>
              </a:rPr>
              <a:t>Is it my router, or is the network down?</a:t>
            </a:r>
            <a:endParaRPr lang="en-US" sz="2500" dirty="0"/>
          </a:p>
        </p:txBody>
      </p:sp>
      <p:sp>
        <p:nvSpPr>
          <p:cNvPr id="3" name="icon-bg-0"/>
          <p:cNvSpPr/>
          <p:nvPr/>
        </p:nvSpPr>
        <p:spPr>
          <a:xfrm>
            <a:off x="548640" y="1234440"/>
            <a:ext cx="566928" cy="566928"/>
          </a:xfrm>
          <a:prstGeom prst="ellipse">
            <a:avLst/>
          </a:prstGeom>
          <a:solidFill>
            <a:schemeClr val="accent1"/>
          </a:solidFill>
          <a:ln w="12700">
            <a:solidFill>
              <a:schemeClr val="accent1"/>
            </a:solidFill>
            <a:prstDash val="solid"/>
          </a:ln>
        </p:spPr>
      </p:sp>
      <p:pic>
        <p:nvPicPr>
          <p:cNvPr id="4" name="Image 0" descr="Customers can't tell where the fault is">    </p:cNvPr>
          <p:cNvPicPr>
            <a:picLocks noChangeAspect="1"/>
          </p:cNvPicPr>
          <p:nvPr/>
        </p:nvPicPr>
        <p:blipFill>
          <a:blip r:embed="rId1"/>
          <a:stretch>
            <a:fillRect/>
          </a:stretch>
        </p:blipFill>
        <p:spPr>
          <a:xfrm>
            <a:off x="694944" y="1380744"/>
            <a:ext cx="274320" cy="274320"/>
          </a:xfrm>
          <a:prstGeom prst="rect">
            <a:avLst/>
          </a:prstGeom>
        </p:spPr>
      </p:pic>
      <p:sp>
        <p:nvSpPr>
          <p:cNvPr id="5" name="Text 2"/>
          <p:cNvSpPr txBox="1"/>
          <p:nvPr/>
        </p:nvSpPr>
        <p:spPr>
          <a:xfrm>
            <a:off x="1325880" y="1234440"/>
            <a:ext cx="3931920" cy="320040"/>
          </a:xfrm>
          <a:prstGeom prst="rect">
            <a:avLst/>
          </a:prstGeom>
          <a:noFill/>
          <a:ln/>
        </p:spPr>
        <p:txBody>
          <a:bodyPr wrap="square" lIns="0" tIns="0" rIns="0" bIns="0" rtlCol="0" anchor="ctr"/>
          <a:lstStyle/>
          <a:p>
            <a:pPr indent="0" marL="0">
              <a:buNone/>
            </a:pPr>
            <a:r>
              <a:rPr lang="en-US" sz="1600" b="1" dirty="0">
                <a:solidFill>
                  <a:schemeClr val="tx1"/>
                </a:solidFill>
                <a:latin typeface="Calibri" pitchFamily="34" charset="0"/>
                <a:ea typeface="Calibri" pitchFamily="34" charset="-122"/>
                <a:cs typeface="Calibri" pitchFamily="34" charset="-120"/>
              </a:rPr>
              <a:t>Customers can't tell where the fault is</a:t>
            </a:r>
            <a:endParaRPr lang="en-US" sz="1600" dirty="0"/>
          </a:p>
        </p:txBody>
      </p:sp>
      <p:sp>
        <p:nvSpPr>
          <p:cNvPr id="6" name="Text 3"/>
          <p:cNvSpPr txBox="1"/>
          <p:nvPr/>
        </p:nvSpPr>
        <p:spPr>
          <a:xfrm>
            <a:off x="1325880" y="1563624"/>
            <a:ext cx="3931920" cy="502920"/>
          </a:xfrm>
          <a:prstGeom prst="rect">
            <a:avLst/>
          </a:prstGeom>
          <a:noFill/>
          <a:ln/>
        </p:spPr>
        <p:txBody>
          <a:bodyPr wrap="square" lIns="0" tIns="0" rIns="0" bIns="0" rtlCol="0" anchor="ctr"/>
          <a:lstStyle/>
          <a:p>
            <a:pPr indent="0" marL="0">
              <a:buNone/>
            </a:pPr>
            <a:r>
              <a:rPr lang="en-US" sz="1250" dirty="0">
                <a:solidFill>
                  <a:srgbClr val="4A5568"/>
                </a:solidFill>
                <a:latin typeface="Calibri" pitchFamily="34" charset="0"/>
                <a:ea typeface="Calibri" pitchFamily="34" charset="-122"/>
                <a:cs typeface="Calibri" pitchFamily="34" charset="-120"/>
              </a:rPr>
              <a:t>They guess, restart things and call support.</a:t>
            </a:r>
            <a:endParaRPr lang="en-US" sz="1250" dirty="0"/>
          </a:p>
        </p:txBody>
      </p:sp>
      <p:sp>
        <p:nvSpPr>
          <p:cNvPr id="7" name="icon-bg-1"/>
          <p:cNvSpPr/>
          <p:nvPr/>
        </p:nvSpPr>
        <p:spPr>
          <a:xfrm>
            <a:off x="548640" y="2313432"/>
            <a:ext cx="566928" cy="566928"/>
          </a:xfrm>
          <a:prstGeom prst="ellipse">
            <a:avLst/>
          </a:prstGeom>
          <a:solidFill>
            <a:schemeClr val="accent1"/>
          </a:solidFill>
          <a:ln w="12700">
            <a:solidFill>
              <a:schemeClr val="accent1"/>
            </a:solidFill>
            <a:prstDash val="solid"/>
          </a:ln>
        </p:spPr>
      </p:sp>
      <p:pic>
        <p:nvPicPr>
          <p:cNvPr id="8" name="Image 1" descr="Staff repeat the same first-line triage">    </p:cNvPr>
          <p:cNvPicPr>
            <a:picLocks noChangeAspect="1"/>
          </p:cNvPicPr>
          <p:nvPr/>
        </p:nvPicPr>
        <p:blipFill>
          <a:blip r:embed="rId2"/>
          <a:stretch>
            <a:fillRect/>
          </a:stretch>
        </p:blipFill>
        <p:spPr>
          <a:xfrm>
            <a:off x="694944" y="2459736"/>
            <a:ext cx="274320" cy="274320"/>
          </a:xfrm>
          <a:prstGeom prst="rect">
            <a:avLst/>
          </a:prstGeom>
        </p:spPr>
      </p:pic>
      <p:sp>
        <p:nvSpPr>
          <p:cNvPr id="9" name="Text 5"/>
          <p:cNvSpPr txBox="1"/>
          <p:nvPr/>
        </p:nvSpPr>
        <p:spPr>
          <a:xfrm>
            <a:off x="1325880" y="2313432"/>
            <a:ext cx="3931920" cy="320040"/>
          </a:xfrm>
          <a:prstGeom prst="rect">
            <a:avLst/>
          </a:prstGeom>
          <a:noFill/>
          <a:ln/>
        </p:spPr>
        <p:txBody>
          <a:bodyPr wrap="square" lIns="0" tIns="0" rIns="0" bIns="0" rtlCol="0" anchor="ctr"/>
          <a:lstStyle/>
          <a:p>
            <a:pPr indent="0" marL="0">
              <a:buNone/>
            </a:pPr>
            <a:r>
              <a:rPr lang="en-US" sz="1600" b="1" dirty="0">
                <a:solidFill>
                  <a:schemeClr val="tx1"/>
                </a:solidFill>
                <a:latin typeface="Calibri" pitchFamily="34" charset="0"/>
                <a:ea typeface="Calibri" pitchFamily="34" charset="-122"/>
                <a:cs typeface="Calibri" pitchFamily="34" charset="-120"/>
              </a:rPr>
              <a:t>Staff repeat the same first-line triage</a:t>
            </a:r>
            <a:endParaRPr lang="en-US" sz="1600" dirty="0"/>
          </a:p>
        </p:txBody>
      </p:sp>
      <p:sp>
        <p:nvSpPr>
          <p:cNvPr id="10" name="Text 6"/>
          <p:cNvSpPr txBox="1"/>
          <p:nvPr/>
        </p:nvSpPr>
        <p:spPr>
          <a:xfrm>
            <a:off x="1325880" y="2642616"/>
            <a:ext cx="3931920" cy="502920"/>
          </a:xfrm>
          <a:prstGeom prst="rect">
            <a:avLst/>
          </a:prstGeom>
          <a:noFill/>
          <a:ln/>
        </p:spPr>
        <p:txBody>
          <a:bodyPr wrap="square" lIns="0" tIns="0" rIns="0" bIns="0" rtlCol="0" anchor="ctr"/>
          <a:lstStyle/>
          <a:p>
            <a:pPr indent="0" marL="0">
              <a:buNone/>
            </a:pPr>
            <a:r>
              <a:rPr lang="en-US" sz="1250" dirty="0">
                <a:solidFill>
                  <a:srgbClr val="4A5568"/>
                </a:solidFill>
                <a:latin typeface="Calibri" pitchFamily="34" charset="0"/>
                <a:ea typeface="Calibri" pitchFamily="34" charset="-122"/>
                <a:cs typeface="Calibri" pitchFamily="34" charset="-120"/>
              </a:rPr>
              <a:t>The same questions, every ticket, every day.</a:t>
            </a:r>
            <a:endParaRPr lang="en-US" sz="1250" dirty="0"/>
          </a:p>
        </p:txBody>
      </p:sp>
      <p:sp>
        <p:nvSpPr>
          <p:cNvPr id="11" name="icon-bg-2"/>
          <p:cNvSpPr/>
          <p:nvPr/>
        </p:nvSpPr>
        <p:spPr>
          <a:xfrm>
            <a:off x="548640" y="3392424"/>
            <a:ext cx="566928" cy="566928"/>
          </a:xfrm>
          <a:prstGeom prst="ellipse">
            <a:avLst/>
          </a:prstGeom>
          <a:solidFill>
            <a:schemeClr val="accent1"/>
          </a:solidFill>
          <a:ln w="12700">
            <a:solidFill>
              <a:schemeClr val="accent1"/>
            </a:solidFill>
            <a:prstDash val="solid"/>
          </a:ln>
        </p:spPr>
      </p:sp>
      <p:pic>
        <p:nvPicPr>
          <p:cNvPr id="12" name="Image 2" descr="Wrong automation is costly">    </p:cNvPr>
          <p:cNvPicPr>
            <a:picLocks noChangeAspect="1"/>
          </p:cNvPicPr>
          <p:nvPr/>
        </p:nvPicPr>
        <p:blipFill>
          <a:blip r:embed="rId3"/>
          <a:stretch>
            <a:fillRect/>
          </a:stretch>
        </p:blipFill>
        <p:spPr>
          <a:xfrm>
            <a:off x="694944" y="3538728"/>
            <a:ext cx="274320" cy="274320"/>
          </a:xfrm>
          <a:prstGeom prst="rect">
            <a:avLst/>
          </a:prstGeom>
        </p:spPr>
      </p:pic>
      <p:sp>
        <p:nvSpPr>
          <p:cNvPr id="13" name="Text 8"/>
          <p:cNvSpPr txBox="1"/>
          <p:nvPr/>
        </p:nvSpPr>
        <p:spPr>
          <a:xfrm>
            <a:off x="1325880" y="3392424"/>
            <a:ext cx="3931920" cy="320040"/>
          </a:xfrm>
          <a:prstGeom prst="rect">
            <a:avLst/>
          </a:prstGeom>
          <a:noFill/>
          <a:ln/>
        </p:spPr>
        <p:txBody>
          <a:bodyPr wrap="square" lIns="0" tIns="0" rIns="0" bIns="0" rtlCol="0" anchor="ctr"/>
          <a:lstStyle/>
          <a:p>
            <a:pPr indent="0" marL="0">
              <a:buNone/>
            </a:pPr>
            <a:r>
              <a:rPr lang="en-US" sz="1600" b="1" dirty="0">
                <a:solidFill>
                  <a:schemeClr val="tx1"/>
                </a:solidFill>
                <a:latin typeface="Calibri" pitchFamily="34" charset="0"/>
                <a:ea typeface="Calibri" pitchFamily="34" charset="-122"/>
                <a:cs typeface="Calibri" pitchFamily="34" charset="-120"/>
              </a:rPr>
              <a:t>Wrong automation is costly</a:t>
            </a:r>
            <a:endParaRPr lang="en-US" sz="1600" dirty="0"/>
          </a:p>
        </p:txBody>
      </p:sp>
      <p:sp>
        <p:nvSpPr>
          <p:cNvPr id="14" name="Text 9"/>
          <p:cNvSpPr txBox="1"/>
          <p:nvPr/>
        </p:nvSpPr>
        <p:spPr>
          <a:xfrm>
            <a:off x="1325880" y="3721608"/>
            <a:ext cx="3931920" cy="502920"/>
          </a:xfrm>
          <a:prstGeom prst="rect">
            <a:avLst/>
          </a:prstGeom>
          <a:noFill/>
          <a:ln/>
        </p:spPr>
        <p:txBody>
          <a:bodyPr wrap="square" lIns="0" tIns="0" rIns="0" bIns="0" rtlCol="0" anchor="ctr"/>
          <a:lstStyle/>
          <a:p>
            <a:pPr indent="0" marL="0">
              <a:buNone/>
            </a:pPr>
            <a:r>
              <a:rPr lang="en-US" sz="1250" dirty="0">
                <a:solidFill>
                  <a:srgbClr val="4A5568"/>
                </a:solidFill>
                <a:latin typeface="Calibri" pitchFamily="34" charset="0"/>
                <a:ea typeface="Calibri" pitchFamily="34" charset="-122"/>
                <a:cs typeface="Calibri" pitchFamily="34" charset="-120"/>
              </a:rPr>
              <a:t>A false outage claim or an unapproved change is worse than no automation.</a:t>
            </a:r>
            <a:endParaRPr lang="en-US" sz="1250" dirty="0"/>
          </a:p>
        </p:txBody>
      </p:sp>
      <p:sp>
        <p:nvSpPr>
          <p:cNvPr id="15" name="never-card"/>
          <p:cNvSpPr/>
          <p:nvPr/>
        </p:nvSpPr>
        <p:spPr>
          <a:xfrm>
            <a:off x="5623560" y="1188720"/>
            <a:ext cx="3017520" cy="3291840"/>
          </a:xfrm>
          <a:prstGeom prst="roundRect">
            <a:avLst>
              <a:gd name="adj" fmla="val 2424"/>
            </a:avLst>
          </a:prstGeom>
          <a:solidFill>
            <a:schemeClr val="tx1"/>
          </a:solidFill>
          <a:ln w="12700">
            <a:solidFill>
              <a:schemeClr val="tx1"/>
            </a:solidFill>
            <a:prstDash val="solid"/>
          </a:ln>
        </p:spPr>
      </p:sp>
      <p:sp>
        <p:nvSpPr>
          <p:cNvPr id="16" name="Text 11"/>
          <p:cNvSpPr txBox="1"/>
          <p:nvPr/>
        </p:nvSpPr>
        <p:spPr>
          <a:xfrm>
            <a:off x="5852160" y="1353312"/>
            <a:ext cx="2560320" cy="320040"/>
          </a:xfrm>
          <a:prstGeom prst="rect">
            <a:avLst/>
          </a:prstGeom>
          <a:noFill/>
          <a:ln/>
        </p:spPr>
        <p:txBody>
          <a:bodyPr wrap="square" lIns="0" tIns="0" rIns="0" bIns="0" rtlCol="0" anchor="ctr"/>
          <a:lstStyle/>
          <a:p>
            <a:pPr indent="0" marL="0">
              <a:buNone/>
            </a:pPr>
            <a:r>
              <a:rPr lang="en-US" sz="1600" b="1" dirty="0">
                <a:solidFill>
                  <a:schemeClr val="accent2"/>
                </a:solidFill>
                <a:latin typeface="Georgia" pitchFamily="34" charset="0"/>
                <a:ea typeface="Georgia" pitchFamily="34" charset="-122"/>
                <a:cs typeface="Georgia" pitchFamily="34" charset="-120"/>
              </a:rPr>
              <a:t>ServiceFlow must never</a:t>
            </a:r>
            <a:endParaRPr lang="en-US" sz="1600" dirty="0"/>
          </a:p>
        </p:txBody>
      </p:sp>
      <p:sp>
        <p:nvSpPr>
          <p:cNvPr id="17" name="Text 12"/>
          <p:cNvSpPr txBox="1"/>
          <p:nvPr/>
        </p:nvSpPr>
        <p:spPr>
          <a:xfrm>
            <a:off x="5852160" y="1783080"/>
            <a:ext cx="2606040" cy="2286000"/>
          </a:xfrm>
          <a:prstGeom prst="rect">
            <a:avLst/>
          </a:prstGeom>
          <a:noFill/>
          <a:ln/>
        </p:spPr>
        <p:txBody>
          <a:bodyPr wrap="square" lIns="0" tIns="0" rIns="0" bIns="0" rtlCol="0" anchor="t"/>
          <a:lstStyle/>
          <a:p>
            <a:pPr marL="342900" indent="-342900">
              <a:spcAft>
                <a:spcPts val="900"/>
              </a:spcAft>
              <a:buSzPct val="100000"/>
              <a:buChar char="•"/>
            </a:pPr>
            <a:r>
              <a:rPr lang="en-US" sz="1400" dirty="0">
                <a:solidFill>
                  <a:srgbClr val="FFFFFF"/>
                </a:solidFill>
                <a:latin typeface="Calibri" pitchFamily="34" charset="0"/>
                <a:ea typeface="Calibri" pitchFamily="34" charset="-122"/>
                <a:cs typeface="Calibri" pitchFamily="34" charset="-120"/>
              </a:rPr>
              <a:t>change network infrastructure</a:t>
            </a:r>
            <a:endParaRPr lang="en-US" sz="1400" dirty="0"/>
          </a:p>
          <a:p>
            <a:pPr marL="342900" indent="-342900">
              <a:spcAft>
                <a:spcPts val="900"/>
              </a:spcAft>
              <a:buSzPct val="100000"/>
              <a:buChar char="•"/>
            </a:pPr>
            <a:r>
              <a:rPr lang="en-US" sz="1400" dirty="0">
                <a:solidFill>
                  <a:srgbClr val="FFFFFF"/>
                </a:solidFill>
                <a:latin typeface="Calibri" pitchFamily="34" charset="0"/>
                <a:ea typeface="Calibri" pitchFamily="34" charset="-122"/>
                <a:cs typeface="Calibri" pitchFamily="34" charset="-120"/>
              </a:rPr>
              <a:t>approve its own tickets</a:t>
            </a:r>
            <a:endParaRPr lang="en-US" sz="1400" dirty="0"/>
          </a:p>
          <a:p>
            <a:pPr marL="342900" indent="-342900">
              <a:spcAft>
                <a:spcPts val="900"/>
              </a:spcAft>
              <a:buSzPct val="100000"/>
              <a:buChar char="•"/>
            </a:pPr>
            <a:r>
              <a:rPr lang="en-US" sz="1400" dirty="0">
                <a:solidFill>
                  <a:srgbClr val="FFFFFF"/>
                </a:solidFill>
                <a:latin typeface="Calibri" pitchFamily="34" charset="0"/>
                <a:ea typeface="Calibri" pitchFamily="34" charset="-122"/>
                <a:cs typeface="Calibri" pitchFamily="34" charset="-120"/>
              </a:rPr>
              <a:t>claim an outage without evidence</a:t>
            </a:r>
            <a:endParaRPr lang="en-US" sz="1400" dirty="0"/>
          </a:p>
          <a:p>
            <a:pPr marL="342900" indent="-342900">
              <a:spcAft>
                <a:spcPts val="900"/>
              </a:spcAft>
              <a:buSzPct val="100000"/>
              <a:buChar char="•"/>
            </a:pPr>
            <a:r>
              <a:rPr lang="en-US" sz="1400" dirty="0">
                <a:solidFill>
                  <a:srgbClr val="FFFFFF"/>
                </a:solidFill>
                <a:latin typeface="Calibri" pitchFamily="34" charset="0"/>
                <a:ea typeface="Calibri" pitchFamily="34" charset="-122"/>
                <a:cs typeface="Calibri" pitchFamily="34" charset="-120"/>
              </a:rPr>
              <a:t>use a tool outside a fixed list</a:t>
            </a:r>
            <a:endParaRPr lang="en-US" sz="1400" dirty="0"/>
          </a:p>
        </p:txBody>
      </p:sp>
      <p:sp>
        <p:nvSpPr>
          <p:cNvPr id="25" name="Slide Number Placeholder 0"/>
          <p:cNvSpPr>
            <a:spLocks noGrp="1"/>
          </p:cNvSpPr>
          <p:nvPr>
            <p:ph type="sldNum" sz="quarter" idx="4294967295"/>
          </p:nvPr>
        </p:nvSpPr>
        <p:spPr>
          <a:xfrm>
            <a:off x="8412480" y="48006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8D99AE"/>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02920" y="274320"/>
            <a:ext cx="8138160" cy="777240"/>
          </a:xfrm>
          <a:prstGeom prst="rect">
            <a:avLst/>
          </a:prstGeom>
          <a:noFill/>
          <a:ln/>
        </p:spPr>
        <p:txBody>
          <a:bodyPr wrap="square" lIns="0" tIns="0" rIns="0" bIns="0" rtlCol="0" anchor="t"/>
          <a:lstStyle/>
          <a:p>
            <a:pPr indent="0" marL="0">
              <a:buNone/>
            </a:pPr>
            <a:r>
              <a:rPr lang="en-US" sz="2500" b="1" dirty="0">
                <a:solidFill>
                  <a:srgbClr val="0B1F33"/>
                </a:solidFill>
                <a:latin typeface="Georgia" pitchFamily="34" charset="0"/>
                <a:ea typeface="Georgia" pitchFamily="34" charset="-122"/>
                <a:cs typeface="Georgia" pitchFamily="34" charset="-120"/>
              </a:rPr>
              <a:t>The model suggests. Software decides. Humans approve.</a:t>
            </a:r>
            <a:endParaRPr lang="en-US" sz="2500" dirty="0"/>
          </a:p>
        </p:txBody>
      </p:sp>
      <p:pic>
        <p:nvPicPr>
          <p:cNvPr id="3" name="Image 0" descr="ServiceFlow architecture: input guardrails, classifier, bounded agent loop with retrieval and two tools, human approval, response composer, output guardrails, trace">    </p:cNvPr>
          <p:cNvPicPr>
            <a:picLocks noChangeAspect="1"/>
          </p:cNvPicPr>
          <p:nvPr/>
        </p:nvPicPr>
        <p:blipFill>
          <a:blip r:embed="rId1"/>
          <a:stretch>
            <a:fillRect/>
          </a:stretch>
        </p:blipFill>
        <p:spPr>
          <a:xfrm>
            <a:off x="411480" y="1097280"/>
            <a:ext cx="6309360" cy="3621024"/>
          </a:xfrm>
          <a:prstGeom prst="rect">
            <a:avLst/>
          </a:prstGeom>
        </p:spPr>
      </p:pic>
      <p:sp>
        <p:nvSpPr>
          <p:cNvPr id="4" name="pillar-0"/>
          <p:cNvSpPr/>
          <p:nvPr/>
        </p:nvSpPr>
        <p:spPr>
          <a:xfrm>
            <a:off x="6903720" y="1143000"/>
            <a:ext cx="1828800" cy="1051560"/>
          </a:xfrm>
          <a:prstGeom prst="roundRect">
            <a:avLst>
              <a:gd name="adj" fmla="val 6957"/>
            </a:avLst>
          </a:prstGeom>
          <a:solidFill>
            <a:schemeClr val="bg2"/>
          </a:solidFill>
          <a:ln w="12700">
            <a:solidFill>
              <a:schemeClr val="bg2"/>
            </a:solidFill>
            <a:prstDash val="solid"/>
          </a:ln>
        </p:spPr>
      </p:sp>
      <p:sp>
        <p:nvSpPr>
          <p:cNvPr id="5" name="pillar-icon-0"/>
          <p:cNvSpPr/>
          <p:nvPr/>
        </p:nvSpPr>
        <p:spPr>
          <a:xfrm>
            <a:off x="7022592" y="1252728"/>
            <a:ext cx="329184" cy="329184"/>
          </a:xfrm>
          <a:prstGeom prst="ellipse">
            <a:avLst/>
          </a:prstGeom>
          <a:solidFill>
            <a:schemeClr val="accent1"/>
          </a:solidFill>
          <a:ln w="12700">
            <a:solidFill>
              <a:schemeClr val="accent1"/>
            </a:solidFill>
            <a:prstDash val="solid"/>
          </a:ln>
        </p:spPr>
      </p:sp>
      <p:pic>
        <p:nvPicPr>
          <p:cNvPr id="6" name="Image 1" descr="Model">    </p:cNvPr>
          <p:cNvPicPr>
            <a:picLocks noChangeAspect="1"/>
          </p:cNvPicPr>
          <p:nvPr/>
        </p:nvPicPr>
        <p:blipFill>
          <a:blip r:embed="rId2"/>
          <a:stretch>
            <a:fillRect/>
          </a:stretch>
        </p:blipFill>
        <p:spPr>
          <a:xfrm>
            <a:off x="7104888" y="1335024"/>
            <a:ext cx="164592" cy="164592"/>
          </a:xfrm>
          <a:prstGeom prst="rect">
            <a:avLst/>
          </a:prstGeom>
        </p:spPr>
      </p:pic>
      <p:sp>
        <p:nvSpPr>
          <p:cNvPr id="7" name="Text 3"/>
          <p:cNvSpPr txBox="1"/>
          <p:nvPr/>
        </p:nvSpPr>
        <p:spPr>
          <a:xfrm>
            <a:off x="7424928" y="1271016"/>
            <a:ext cx="1234440" cy="292608"/>
          </a:xfrm>
          <a:prstGeom prst="rect">
            <a:avLst/>
          </a:prstGeom>
          <a:noFill/>
          <a:ln/>
        </p:spPr>
        <p:txBody>
          <a:bodyPr wrap="square" lIns="0" tIns="0" rIns="0" bIns="0" rtlCol="0" anchor="ctr"/>
          <a:lstStyle/>
          <a:p>
            <a:pPr indent="0" marL="0">
              <a:buNone/>
            </a:pPr>
            <a:r>
              <a:rPr lang="en-US" sz="1300" b="1" dirty="0">
                <a:solidFill>
                  <a:schemeClr val="tx1"/>
                </a:solidFill>
                <a:latin typeface="Calibri" pitchFamily="34" charset="0"/>
                <a:ea typeface="Calibri" pitchFamily="34" charset="-122"/>
                <a:cs typeface="Calibri" pitchFamily="34" charset="-120"/>
              </a:rPr>
              <a:t>Model</a:t>
            </a:r>
            <a:endParaRPr lang="en-US" sz="1300" dirty="0"/>
          </a:p>
        </p:txBody>
      </p:sp>
      <p:sp>
        <p:nvSpPr>
          <p:cNvPr id="8" name="Text 4"/>
          <p:cNvSpPr txBox="1"/>
          <p:nvPr/>
        </p:nvSpPr>
        <p:spPr>
          <a:xfrm>
            <a:off x="7022592" y="1618488"/>
            <a:ext cx="1609344" cy="548640"/>
          </a:xfrm>
          <a:prstGeom prst="rect">
            <a:avLst/>
          </a:prstGeom>
          <a:noFill/>
          <a:ln/>
        </p:spPr>
        <p:txBody>
          <a:bodyPr wrap="square" lIns="0" tIns="0" rIns="0" bIns="0" rtlCol="0" anchor="t"/>
          <a:lstStyle/>
          <a:p>
            <a:pPr indent="0" marL="0">
              <a:buNone/>
            </a:pPr>
            <a:r>
              <a:rPr lang="en-US" sz="950" dirty="0">
                <a:solidFill>
                  <a:srgbClr val="4A5568"/>
                </a:solidFill>
                <a:latin typeface="Calibri" pitchFamily="34" charset="0"/>
                <a:ea typeface="Calibri" pitchFamily="34" charset="-122"/>
                <a:cs typeface="Calibri" pitchFamily="34" charset="-120"/>
              </a:rPr>
              <a:t>Only classifies. Output is validated; any failure falls back to rules.</a:t>
            </a:r>
            <a:endParaRPr lang="en-US" sz="950" dirty="0"/>
          </a:p>
        </p:txBody>
      </p:sp>
      <p:sp>
        <p:nvSpPr>
          <p:cNvPr id="9" name="pillar-1"/>
          <p:cNvSpPr/>
          <p:nvPr/>
        </p:nvSpPr>
        <p:spPr>
          <a:xfrm>
            <a:off x="6903720" y="2331720"/>
            <a:ext cx="1828800" cy="1051560"/>
          </a:xfrm>
          <a:prstGeom prst="roundRect">
            <a:avLst>
              <a:gd name="adj" fmla="val 6957"/>
            </a:avLst>
          </a:prstGeom>
          <a:solidFill>
            <a:schemeClr val="bg2"/>
          </a:solidFill>
          <a:ln w="12700">
            <a:solidFill>
              <a:schemeClr val="bg2"/>
            </a:solidFill>
            <a:prstDash val="solid"/>
          </a:ln>
        </p:spPr>
      </p:sp>
      <p:sp>
        <p:nvSpPr>
          <p:cNvPr id="10" name="pillar-icon-1"/>
          <p:cNvSpPr/>
          <p:nvPr/>
        </p:nvSpPr>
        <p:spPr>
          <a:xfrm>
            <a:off x="7022592" y="2441448"/>
            <a:ext cx="329184" cy="329184"/>
          </a:xfrm>
          <a:prstGeom prst="ellipse">
            <a:avLst/>
          </a:prstGeom>
          <a:solidFill>
            <a:schemeClr val="accent1"/>
          </a:solidFill>
          <a:ln w="12700">
            <a:solidFill>
              <a:schemeClr val="accent1"/>
            </a:solidFill>
            <a:prstDash val="solid"/>
          </a:ln>
        </p:spPr>
      </p:sp>
      <p:pic>
        <p:nvPicPr>
          <p:cNvPr id="11" name="Image 2" descr="Software">    </p:cNvPr>
          <p:cNvPicPr>
            <a:picLocks noChangeAspect="1"/>
          </p:cNvPicPr>
          <p:nvPr/>
        </p:nvPicPr>
        <p:blipFill>
          <a:blip r:embed="rId3"/>
          <a:stretch>
            <a:fillRect/>
          </a:stretch>
        </p:blipFill>
        <p:spPr>
          <a:xfrm>
            <a:off x="7104888" y="2523744"/>
            <a:ext cx="164592" cy="164592"/>
          </a:xfrm>
          <a:prstGeom prst="rect">
            <a:avLst/>
          </a:prstGeom>
        </p:spPr>
      </p:pic>
      <p:sp>
        <p:nvSpPr>
          <p:cNvPr id="12" name="Text 7"/>
          <p:cNvSpPr txBox="1"/>
          <p:nvPr/>
        </p:nvSpPr>
        <p:spPr>
          <a:xfrm>
            <a:off x="7424928" y="2459736"/>
            <a:ext cx="1234440" cy="292608"/>
          </a:xfrm>
          <a:prstGeom prst="rect">
            <a:avLst/>
          </a:prstGeom>
          <a:noFill/>
          <a:ln/>
        </p:spPr>
        <p:txBody>
          <a:bodyPr wrap="square" lIns="0" tIns="0" rIns="0" bIns="0" rtlCol="0" anchor="ctr"/>
          <a:lstStyle/>
          <a:p>
            <a:pPr indent="0" marL="0">
              <a:buNone/>
            </a:pPr>
            <a:r>
              <a:rPr lang="en-US" sz="1300" b="1" dirty="0">
                <a:solidFill>
                  <a:schemeClr val="tx1"/>
                </a:solidFill>
                <a:latin typeface="Calibri" pitchFamily="34" charset="0"/>
                <a:ea typeface="Calibri" pitchFamily="34" charset="-122"/>
                <a:cs typeface="Calibri" pitchFamily="34" charset="-120"/>
              </a:rPr>
              <a:t>Software</a:t>
            </a:r>
            <a:endParaRPr lang="en-US" sz="1300" dirty="0"/>
          </a:p>
        </p:txBody>
      </p:sp>
      <p:sp>
        <p:nvSpPr>
          <p:cNvPr id="13" name="Text 8"/>
          <p:cNvSpPr txBox="1"/>
          <p:nvPr/>
        </p:nvSpPr>
        <p:spPr>
          <a:xfrm>
            <a:off x="7022592" y="2807208"/>
            <a:ext cx="1609344" cy="548640"/>
          </a:xfrm>
          <a:prstGeom prst="rect">
            <a:avLst/>
          </a:prstGeom>
          <a:noFill/>
          <a:ln/>
        </p:spPr>
        <p:txBody>
          <a:bodyPr wrap="square" lIns="0" tIns="0" rIns="0" bIns="0" rtlCol="0" anchor="t"/>
          <a:lstStyle/>
          <a:p>
            <a:pPr indent="0" marL="0">
              <a:buNone/>
            </a:pPr>
            <a:r>
              <a:rPr lang="en-US" sz="950" dirty="0">
                <a:solidFill>
                  <a:srgbClr val="4A5568"/>
                </a:solidFill>
                <a:latin typeface="Calibri" pitchFamily="34" charset="0"/>
                <a:ea typeface="Calibri" pitchFamily="34" charset="-122"/>
                <a:cs typeface="Calibri" pitchFamily="34" charset="-120"/>
              </a:rPr>
              <a:t>Deterministic policy, 6-step cap, allow-listed actions, authorization.</a:t>
            </a:r>
            <a:endParaRPr lang="en-US" sz="950" dirty="0"/>
          </a:p>
        </p:txBody>
      </p:sp>
      <p:sp>
        <p:nvSpPr>
          <p:cNvPr id="14" name="pillar-2"/>
          <p:cNvSpPr/>
          <p:nvPr/>
        </p:nvSpPr>
        <p:spPr>
          <a:xfrm>
            <a:off x="6903720" y="3520440"/>
            <a:ext cx="1828800" cy="1051560"/>
          </a:xfrm>
          <a:prstGeom prst="roundRect">
            <a:avLst>
              <a:gd name="adj" fmla="val 6957"/>
            </a:avLst>
          </a:prstGeom>
          <a:solidFill>
            <a:schemeClr val="bg2"/>
          </a:solidFill>
          <a:ln w="12700">
            <a:solidFill>
              <a:schemeClr val="bg2"/>
            </a:solidFill>
            <a:prstDash val="solid"/>
          </a:ln>
        </p:spPr>
      </p:sp>
      <p:sp>
        <p:nvSpPr>
          <p:cNvPr id="15" name="pillar-icon-2"/>
          <p:cNvSpPr/>
          <p:nvPr/>
        </p:nvSpPr>
        <p:spPr>
          <a:xfrm>
            <a:off x="7022592" y="3630168"/>
            <a:ext cx="329184" cy="329184"/>
          </a:xfrm>
          <a:prstGeom prst="ellipse">
            <a:avLst/>
          </a:prstGeom>
          <a:solidFill>
            <a:schemeClr val="accent1"/>
          </a:solidFill>
          <a:ln w="12700">
            <a:solidFill>
              <a:schemeClr val="accent1"/>
            </a:solidFill>
            <a:prstDash val="solid"/>
          </a:ln>
        </p:spPr>
      </p:sp>
      <p:pic>
        <p:nvPicPr>
          <p:cNvPr id="16" name="Image 3" descr="Humans">    </p:cNvPr>
          <p:cNvPicPr>
            <a:picLocks noChangeAspect="1"/>
          </p:cNvPicPr>
          <p:nvPr/>
        </p:nvPicPr>
        <p:blipFill>
          <a:blip r:embed="rId4"/>
          <a:stretch>
            <a:fillRect/>
          </a:stretch>
        </p:blipFill>
        <p:spPr>
          <a:xfrm>
            <a:off x="7104888" y="3712464"/>
            <a:ext cx="164592" cy="164592"/>
          </a:xfrm>
          <a:prstGeom prst="rect">
            <a:avLst/>
          </a:prstGeom>
        </p:spPr>
      </p:pic>
      <p:sp>
        <p:nvSpPr>
          <p:cNvPr id="17" name="Text 11"/>
          <p:cNvSpPr txBox="1"/>
          <p:nvPr/>
        </p:nvSpPr>
        <p:spPr>
          <a:xfrm>
            <a:off x="7424928" y="3648456"/>
            <a:ext cx="1234440" cy="292608"/>
          </a:xfrm>
          <a:prstGeom prst="rect">
            <a:avLst/>
          </a:prstGeom>
          <a:noFill/>
          <a:ln/>
        </p:spPr>
        <p:txBody>
          <a:bodyPr wrap="square" lIns="0" tIns="0" rIns="0" bIns="0" rtlCol="0" anchor="ctr"/>
          <a:lstStyle/>
          <a:p>
            <a:pPr indent="0" marL="0">
              <a:buNone/>
            </a:pPr>
            <a:r>
              <a:rPr lang="en-US" sz="1300" b="1" dirty="0">
                <a:solidFill>
                  <a:schemeClr val="tx1"/>
                </a:solidFill>
                <a:latin typeface="Calibri" pitchFamily="34" charset="0"/>
                <a:ea typeface="Calibri" pitchFamily="34" charset="-122"/>
                <a:cs typeface="Calibri" pitchFamily="34" charset="-120"/>
              </a:rPr>
              <a:t>Humans</a:t>
            </a:r>
            <a:endParaRPr lang="en-US" sz="1300" dirty="0"/>
          </a:p>
        </p:txBody>
      </p:sp>
      <p:sp>
        <p:nvSpPr>
          <p:cNvPr id="18" name="Text 12"/>
          <p:cNvSpPr txBox="1"/>
          <p:nvPr/>
        </p:nvSpPr>
        <p:spPr>
          <a:xfrm>
            <a:off x="7022592" y="3995928"/>
            <a:ext cx="1609344" cy="548640"/>
          </a:xfrm>
          <a:prstGeom prst="rect">
            <a:avLst/>
          </a:prstGeom>
          <a:noFill/>
          <a:ln/>
        </p:spPr>
        <p:txBody>
          <a:bodyPr wrap="square" lIns="0" tIns="0" rIns="0" bIns="0" rtlCol="0" anchor="t"/>
          <a:lstStyle/>
          <a:p>
            <a:pPr indent="0" marL="0">
              <a:buNone/>
            </a:pPr>
            <a:r>
              <a:rPr lang="en-US" sz="950" dirty="0">
                <a:solidFill>
                  <a:srgbClr val="4A5568"/>
                </a:solidFill>
                <a:latin typeface="Calibri" pitchFamily="34" charset="0"/>
                <a:ea typeface="Calibri" pitchFamily="34" charset="-122"/>
                <a:cs typeface="Calibri" pitchFamily="34" charset="-120"/>
              </a:rPr>
              <a:t>Tickets are always pending. No tool can approve one.</a:t>
            </a:r>
            <a:endParaRPr lang="en-US" sz="950" dirty="0"/>
          </a:p>
        </p:txBody>
      </p:sp>
      <p:sp>
        <p:nvSpPr>
          <p:cNvPr id="25" name="Slide Number Placeholder 0"/>
          <p:cNvSpPr>
            <a:spLocks noGrp="1"/>
          </p:cNvSpPr>
          <p:nvPr>
            <p:ph type="sldNum" sz="quarter" idx="4294967295"/>
          </p:nvPr>
        </p:nvSpPr>
        <p:spPr>
          <a:xfrm>
            <a:off x="8412480" y="48006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8D99AE"/>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02920" y="274320"/>
            <a:ext cx="8138160" cy="777240"/>
          </a:xfrm>
          <a:prstGeom prst="rect">
            <a:avLst/>
          </a:prstGeom>
          <a:noFill/>
          <a:ln/>
        </p:spPr>
        <p:txBody>
          <a:bodyPr wrap="square" lIns="0" tIns="0" rIns="0" bIns="0" rtlCol="0" anchor="t"/>
          <a:lstStyle/>
          <a:p>
            <a:pPr indent="0" marL="0">
              <a:buNone/>
            </a:pPr>
            <a:r>
              <a:rPr lang="en-US" sz="2500" b="1" dirty="0">
                <a:solidFill>
                  <a:srgbClr val="0B1F33"/>
                </a:solidFill>
                <a:latin typeface="Georgia" pitchFamily="34" charset="0"/>
                <a:ea typeface="Georgia" pitchFamily="34" charset="-122"/>
                <a:cs typeface="Georgia" pitchFamily="34" charset="-120"/>
              </a:rPr>
              <a:t>Built layer by layer, each tested before the next</a:t>
            </a:r>
            <a:endParaRPr lang="en-US" sz="2500" dirty="0"/>
          </a:p>
        </p:txBody>
      </p:sp>
      <p:sp>
        <p:nvSpPr>
          <p:cNvPr id="3" name="timeline-line"/>
          <p:cNvSpPr/>
          <p:nvPr/>
        </p:nvSpPr>
        <p:spPr>
          <a:xfrm>
            <a:off x="822960" y="2011680"/>
            <a:ext cx="7498080" cy="0"/>
          </a:xfrm>
          <a:prstGeom prst="line">
            <a:avLst/>
          </a:prstGeom>
          <a:noFill/>
          <a:ln w="25400">
            <a:solidFill>
              <a:schemeClr val="accent5"/>
            </a:solidFill>
            <a:prstDash val="solid"/>
          </a:ln>
        </p:spPr>
      </p:sp>
      <p:sp>
        <p:nvSpPr>
          <p:cNvPr id="4" name="step-dot-0"/>
          <p:cNvSpPr/>
          <p:nvPr/>
        </p:nvSpPr>
        <p:spPr>
          <a:xfrm>
            <a:off x="685800" y="1737360"/>
            <a:ext cx="548640" cy="548640"/>
          </a:xfrm>
          <a:prstGeom prst="ellipse">
            <a:avLst/>
          </a:prstGeom>
          <a:solidFill>
            <a:schemeClr val="accent1"/>
          </a:solidFill>
          <a:ln w="12700">
            <a:solidFill>
              <a:schemeClr val="accent1"/>
            </a:solidFill>
            <a:prstDash val="solid"/>
          </a:ln>
        </p:spPr>
      </p:sp>
      <p:sp>
        <p:nvSpPr>
          <p:cNvPr id="5" name="Text 3"/>
          <p:cNvSpPr txBox="1"/>
          <p:nvPr/>
        </p:nvSpPr>
        <p:spPr>
          <a:xfrm>
            <a:off x="685800" y="1737360"/>
            <a:ext cx="548640" cy="54864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W2</a:t>
            </a:r>
            <a:endParaRPr lang="en-US" sz="1300" dirty="0"/>
          </a:p>
        </p:txBody>
      </p:sp>
      <p:sp>
        <p:nvSpPr>
          <p:cNvPr id="6" name="Text 4"/>
          <p:cNvSpPr txBox="1"/>
          <p:nvPr/>
        </p:nvSpPr>
        <p:spPr>
          <a:xfrm>
            <a:off x="457200" y="2423160"/>
            <a:ext cx="1005840" cy="457200"/>
          </a:xfrm>
          <a:prstGeom prst="rect">
            <a:avLst/>
          </a:prstGeom>
          <a:noFill/>
          <a:ln/>
        </p:spPr>
        <p:txBody>
          <a:bodyPr wrap="square" lIns="0" tIns="0" rIns="0" bIns="0" rtlCol="0" anchor="ctr"/>
          <a:lstStyle/>
          <a:p>
            <a:pPr algn="ctr" indent="0" marL="0">
              <a:buNone/>
            </a:pPr>
            <a:r>
              <a:rPr lang="en-US" sz="1200" b="1" dirty="0">
                <a:solidFill>
                  <a:schemeClr val="tx1"/>
                </a:solidFill>
                <a:latin typeface="Calibri" pitchFamily="34" charset="0"/>
                <a:ea typeface="Calibri" pitchFamily="34" charset="-122"/>
                <a:cs typeface="Calibri" pitchFamily="34" charset="-120"/>
              </a:rPr>
              <a:t>Model &amp; prompt</a:t>
            </a:r>
            <a:endParaRPr lang="en-US" sz="1200" dirty="0"/>
          </a:p>
        </p:txBody>
      </p:sp>
      <p:sp>
        <p:nvSpPr>
          <p:cNvPr id="7" name="Text 5"/>
          <p:cNvSpPr txBox="1"/>
          <p:nvPr/>
        </p:nvSpPr>
        <p:spPr>
          <a:xfrm>
            <a:off x="457200" y="2880360"/>
            <a:ext cx="1005840" cy="868680"/>
          </a:xfrm>
          <a:prstGeom prst="rect">
            <a:avLst/>
          </a:prstGeom>
          <a:noFill/>
          <a:ln/>
        </p:spPr>
        <p:txBody>
          <a:bodyPr wrap="square" lIns="0" tIns="0" rIns="0" bIns="0" rtlCol="0" anchor="t"/>
          <a:lstStyle/>
          <a:p>
            <a:pPr algn="ctr" indent="0" marL="0">
              <a:buNone/>
            </a:pPr>
            <a:r>
              <a:rPr lang="en-US" sz="950" dirty="0">
                <a:solidFill>
                  <a:srgbClr val="4A5568"/>
                </a:solidFill>
                <a:latin typeface="Calibri" pitchFamily="34" charset="0"/>
                <a:ea typeface="Calibri" pitchFamily="34" charset="-122"/>
                <a:cs typeface="Calibri" pitchFamily="34" charset="-120"/>
              </a:rPr>
              <a:t>Versioned prompt, validated output</a:t>
            </a:r>
            <a:endParaRPr lang="en-US" sz="950" dirty="0"/>
          </a:p>
        </p:txBody>
      </p:sp>
      <p:sp>
        <p:nvSpPr>
          <p:cNvPr id="8" name="step-dot-1"/>
          <p:cNvSpPr/>
          <p:nvPr/>
        </p:nvSpPr>
        <p:spPr>
          <a:xfrm>
            <a:off x="1874520" y="1737360"/>
            <a:ext cx="548640" cy="548640"/>
          </a:xfrm>
          <a:prstGeom prst="ellipse">
            <a:avLst/>
          </a:prstGeom>
          <a:solidFill>
            <a:schemeClr val="accent1"/>
          </a:solidFill>
          <a:ln w="12700">
            <a:solidFill>
              <a:schemeClr val="accent1"/>
            </a:solidFill>
            <a:prstDash val="solid"/>
          </a:ln>
        </p:spPr>
      </p:sp>
      <p:sp>
        <p:nvSpPr>
          <p:cNvPr id="9" name="Text 7"/>
          <p:cNvSpPr txBox="1"/>
          <p:nvPr/>
        </p:nvSpPr>
        <p:spPr>
          <a:xfrm>
            <a:off x="1874520" y="1737360"/>
            <a:ext cx="548640" cy="54864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W3</a:t>
            </a:r>
            <a:endParaRPr lang="en-US" sz="1300" dirty="0"/>
          </a:p>
        </p:txBody>
      </p:sp>
      <p:sp>
        <p:nvSpPr>
          <p:cNvPr id="10" name="Text 8"/>
          <p:cNvSpPr txBox="1"/>
          <p:nvPr/>
        </p:nvSpPr>
        <p:spPr>
          <a:xfrm>
            <a:off x="1645920" y="2423160"/>
            <a:ext cx="1005840" cy="457200"/>
          </a:xfrm>
          <a:prstGeom prst="rect">
            <a:avLst/>
          </a:prstGeom>
          <a:noFill/>
          <a:ln/>
        </p:spPr>
        <p:txBody>
          <a:bodyPr wrap="square" lIns="0" tIns="0" rIns="0" bIns="0" rtlCol="0" anchor="ctr"/>
          <a:lstStyle/>
          <a:p>
            <a:pPr algn="ctr" indent="0" marL="0">
              <a:buNone/>
            </a:pPr>
            <a:r>
              <a:rPr lang="en-US" sz="1200" b="1" dirty="0">
                <a:solidFill>
                  <a:schemeClr val="tx1"/>
                </a:solidFill>
                <a:latin typeface="Calibri" pitchFamily="34" charset="0"/>
                <a:ea typeface="Calibri" pitchFamily="34" charset="-122"/>
                <a:cs typeface="Calibri" pitchFamily="34" charset="-120"/>
              </a:rPr>
              <a:t>Retrieval</a:t>
            </a:r>
            <a:endParaRPr lang="en-US" sz="1200" dirty="0"/>
          </a:p>
        </p:txBody>
      </p:sp>
      <p:sp>
        <p:nvSpPr>
          <p:cNvPr id="11" name="Text 9"/>
          <p:cNvSpPr txBox="1"/>
          <p:nvPr/>
        </p:nvSpPr>
        <p:spPr>
          <a:xfrm>
            <a:off x="1645920" y="2880360"/>
            <a:ext cx="1005840" cy="868680"/>
          </a:xfrm>
          <a:prstGeom prst="rect">
            <a:avLst/>
          </a:prstGeom>
          <a:noFill/>
          <a:ln/>
        </p:spPr>
        <p:txBody>
          <a:bodyPr wrap="square" lIns="0" tIns="0" rIns="0" bIns="0" rtlCol="0" anchor="t"/>
          <a:lstStyle/>
          <a:p>
            <a:pPr algn="ctr" indent="0" marL="0">
              <a:buNone/>
            </a:pPr>
            <a:r>
              <a:rPr lang="en-US" sz="950" dirty="0">
                <a:solidFill>
                  <a:srgbClr val="4A5568"/>
                </a:solidFill>
                <a:latin typeface="Calibri" pitchFamily="34" charset="0"/>
                <a:ea typeface="Calibri" pitchFamily="34" charset="-122"/>
                <a:cs typeface="Calibri" pitchFamily="34" charset="-120"/>
              </a:rPr>
              <a:t>15 cited guides, TF-IDF</a:t>
            </a:r>
            <a:endParaRPr lang="en-US" sz="950" dirty="0"/>
          </a:p>
        </p:txBody>
      </p:sp>
      <p:sp>
        <p:nvSpPr>
          <p:cNvPr id="12" name="step-dot-2"/>
          <p:cNvSpPr/>
          <p:nvPr/>
        </p:nvSpPr>
        <p:spPr>
          <a:xfrm>
            <a:off x="3063240" y="1737360"/>
            <a:ext cx="548640" cy="548640"/>
          </a:xfrm>
          <a:prstGeom prst="ellipse">
            <a:avLst/>
          </a:prstGeom>
          <a:solidFill>
            <a:schemeClr val="accent1"/>
          </a:solidFill>
          <a:ln w="12700">
            <a:solidFill>
              <a:schemeClr val="accent1"/>
            </a:solidFill>
            <a:prstDash val="solid"/>
          </a:ln>
        </p:spPr>
      </p:sp>
      <p:sp>
        <p:nvSpPr>
          <p:cNvPr id="13" name="Text 11"/>
          <p:cNvSpPr txBox="1"/>
          <p:nvPr/>
        </p:nvSpPr>
        <p:spPr>
          <a:xfrm>
            <a:off x="3063240" y="1737360"/>
            <a:ext cx="548640" cy="54864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W4</a:t>
            </a:r>
            <a:endParaRPr lang="en-US" sz="1300" dirty="0"/>
          </a:p>
        </p:txBody>
      </p:sp>
      <p:sp>
        <p:nvSpPr>
          <p:cNvPr id="14" name="Text 12"/>
          <p:cNvSpPr txBox="1"/>
          <p:nvPr/>
        </p:nvSpPr>
        <p:spPr>
          <a:xfrm>
            <a:off x="2834640" y="2423160"/>
            <a:ext cx="1005840" cy="457200"/>
          </a:xfrm>
          <a:prstGeom prst="rect">
            <a:avLst/>
          </a:prstGeom>
          <a:noFill/>
          <a:ln/>
        </p:spPr>
        <p:txBody>
          <a:bodyPr wrap="square" lIns="0" tIns="0" rIns="0" bIns="0" rtlCol="0" anchor="ctr"/>
          <a:lstStyle/>
          <a:p>
            <a:pPr algn="ctr" indent="0" marL="0">
              <a:buNone/>
            </a:pPr>
            <a:r>
              <a:rPr lang="en-US" sz="1200" b="1" dirty="0">
                <a:solidFill>
                  <a:schemeClr val="tx1"/>
                </a:solidFill>
                <a:latin typeface="Calibri" pitchFamily="34" charset="0"/>
                <a:ea typeface="Calibri" pitchFamily="34" charset="-122"/>
                <a:cs typeface="Calibri" pitchFamily="34" charset="-120"/>
              </a:rPr>
              <a:t>Tools</a:t>
            </a:r>
            <a:endParaRPr lang="en-US" sz="1200" dirty="0"/>
          </a:p>
        </p:txBody>
      </p:sp>
      <p:sp>
        <p:nvSpPr>
          <p:cNvPr id="15" name="Text 13"/>
          <p:cNvSpPr txBox="1"/>
          <p:nvPr/>
        </p:nvSpPr>
        <p:spPr>
          <a:xfrm>
            <a:off x="2834640" y="2880360"/>
            <a:ext cx="1005840" cy="868680"/>
          </a:xfrm>
          <a:prstGeom prst="rect">
            <a:avLst/>
          </a:prstGeom>
          <a:noFill/>
          <a:ln/>
        </p:spPr>
        <p:txBody>
          <a:bodyPr wrap="square" lIns="0" tIns="0" rIns="0" bIns="0" rtlCol="0" anchor="t"/>
          <a:lstStyle/>
          <a:p>
            <a:pPr algn="ctr" indent="0" marL="0">
              <a:buNone/>
            </a:pPr>
            <a:r>
              <a:rPr lang="en-US" sz="950" dirty="0">
                <a:solidFill>
                  <a:srgbClr val="4A5568"/>
                </a:solidFill>
                <a:latin typeface="Calibri" pitchFamily="34" charset="0"/>
                <a:ea typeface="Calibri" pitchFamily="34" charset="-122"/>
                <a:cs typeface="Calibri" pitchFamily="34" charset="-120"/>
              </a:rPr>
              <a:t>Outage lookup, ticket + approval gate</a:t>
            </a:r>
            <a:endParaRPr lang="en-US" sz="950" dirty="0"/>
          </a:p>
        </p:txBody>
      </p:sp>
      <p:sp>
        <p:nvSpPr>
          <p:cNvPr id="16" name="step-dot-3"/>
          <p:cNvSpPr/>
          <p:nvPr/>
        </p:nvSpPr>
        <p:spPr>
          <a:xfrm>
            <a:off x="4251960" y="1737360"/>
            <a:ext cx="548640" cy="548640"/>
          </a:xfrm>
          <a:prstGeom prst="ellipse">
            <a:avLst/>
          </a:prstGeom>
          <a:solidFill>
            <a:schemeClr val="accent1"/>
          </a:solidFill>
          <a:ln w="12700">
            <a:solidFill>
              <a:schemeClr val="accent1"/>
            </a:solidFill>
            <a:prstDash val="solid"/>
          </a:ln>
        </p:spPr>
      </p:sp>
      <p:sp>
        <p:nvSpPr>
          <p:cNvPr id="17" name="Text 15"/>
          <p:cNvSpPr txBox="1"/>
          <p:nvPr/>
        </p:nvSpPr>
        <p:spPr>
          <a:xfrm>
            <a:off x="4251960" y="1737360"/>
            <a:ext cx="548640" cy="54864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W5</a:t>
            </a:r>
            <a:endParaRPr lang="en-US" sz="1300" dirty="0"/>
          </a:p>
        </p:txBody>
      </p:sp>
      <p:sp>
        <p:nvSpPr>
          <p:cNvPr id="18" name="Text 16"/>
          <p:cNvSpPr txBox="1"/>
          <p:nvPr/>
        </p:nvSpPr>
        <p:spPr>
          <a:xfrm>
            <a:off x="4023360" y="2423160"/>
            <a:ext cx="1005840" cy="457200"/>
          </a:xfrm>
          <a:prstGeom prst="rect">
            <a:avLst/>
          </a:prstGeom>
          <a:noFill/>
          <a:ln/>
        </p:spPr>
        <p:txBody>
          <a:bodyPr wrap="square" lIns="0" tIns="0" rIns="0" bIns="0" rtlCol="0" anchor="ctr"/>
          <a:lstStyle/>
          <a:p>
            <a:pPr algn="ctr" indent="0" marL="0">
              <a:buNone/>
            </a:pPr>
            <a:r>
              <a:rPr lang="en-US" sz="1200" b="1" dirty="0">
                <a:solidFill>
                  <a:schemeClr val="tx1"/>
                </a:solidFill>
                <a:latin typeface="Calibri" pitchFamily="34" charset="0"/>
                <a:ea typeface="Calibri" pitchFamily="34" charset="-122"/>
                <a:cs typeface="Calibri" pitchFamily="34" charset="-120"/>
              </a:rPr>
              <a:t>Bounded agent</a:t>
            </a:r>
            <a:endParaRPr lang="en-US" sz="1200" dirty="0"/>
          </a:p>
        </p:txBody>
      </p:sp>
      <p:sp>
        <p:nvSpPr>
          <p:cNvPr id="19" name="Text 17"/>
          <p:cNvSpPr txBox="1"/>
          <p:nvPr/>
        </p:nvSpPr>
        <p:spPr>
          <a:xfrm>
            <a:off x="4023360" y="2880360"/>
            <a:ext cx="1005840" cy="868680"/>
          </a:xfrm>
          <a:prstGeom prst="rect">
            <a:avLst/>
          </a:prstGeom>
          <a:noFill/>
          <a:ln/>
        </p:spPr>
        <p:txBody>
          <a:bodyPr wrap="square" lIns="0" tIns="0" rIns="0" bIns="0" rtlCol="0" anchor="t"/>
          <a:lstStyle/>
          <a:p>
            <a:pPr algn="ctr" indent="0" marL="0">
              <a:buNone/>
            </a:pPr>
            <a:r>
              <a:rPr lang="en-US" sz="950" dirty="0">
                <a:solidFill>
                  <a:srgbClr val="4A5568"/>
                </a:solidFill>
                <a:latin typeface="Calibri" pitchFamily="34" charset="0"/>
                <a:ea typeface="Calibri" pitchFamily="34" charset="-122"/>
                <a:cs typeface="Calibri" pitchFamily="34" charset="-120"/>
              </a:rPr>
              <a:t>Loop, limits, stop conditions</a:t>
            </a:r>
            <a:endParaRPr lang="en-US" sz="950" dirty="0"/>
          </a:p>
        </p:txBody>
      </p:sp>
      <p:sp>
        <p:nvSpPr>
          <p:cNvPr id="20" name="step-dot-4"/>
          <p:cNvSpPr/>
          <p:nvPr/>
        </p:nvSpPr>
        <p:spPr>
          <a:xfrm>
            <a:off x="5440680" y="1737360"/>
            <a:ext cx="548640" cy="548640"/>
          </a:xfrm>
          <a:prstGeom prst="ellipse">
            <a:avLst/>
          </a:prstGeom>
          <a:solidFill>
            <a:schemeClr val="accent1"/>
          </a:solidFill>
          <a:ln w="12700">
            <a:solidFill>
              <a:schemeClr val="accent1"/>
            </a:solidFill>
            <a:prstDash val="solid"/>
          </a:ln>
        </p:spPr>
      </p:sp>
      <p:sp>
        <p:nvSpPr>
          <p:cNvPr id="21" name="Text 19"/>
          <p:cNvSpPr txBox="1"/>
          <p:nvPr/>
        </p:nvSpPr>
        <p:spPr>
          <a:xfrm>
            <a:off x="5440680" y="1737360"/>
            <a:ext cx="548640" cy="54864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W6</a:t>
            </a:r>
            <a:endParaRPr lang="en-US" sz="1300" dirty="0"/>
          </a:p>
        </p:txBody>
      </p:sp>
      <p:sp>
        <p:nvSpPr>
          <p:cNvPr id="22" name="Text 20"/>
          <p:cNvSpPr txBox="1"/>
          <p:nvPr/>
        </p:nvSpPr>
        <p:spPr>
          <a:xfrm>
            <a:off x="5212080" y="2423160"/>
            <a:ext cx="1005840" cy="457200"/>
          </a:xfrm>
          <a:prstGeom prst="rect">
            <a:avLst/>
          </a:prstGeom>
          <a:noFill/>
          <a:ln/>
        </p:spPr>
        <p:txBody>
          <a:bodyPr wrap="square" lIns="0" tIns="0" rIns="0" bIns="0" rtlCol="0" anchor="ctr"/>
          <a:lstStyle/>
          <a:p>
            <a:pPr algn="ctr" indent="0" marL="0">
              <a:buNone/>
            </a:pPr>
            <a:r>
              <a:rPr lang="en-US" sz="1200" b="1" dirty="0">
                <a:solidFill>
                  <a:schemeClr val="tx1"/>
                </a:solidFill>
                <a:latin typeface="Calibri" pitchFamily="34" charset="0"/>
                <a:ea typeface="Calibri" pitchFamily="34" charset="-122"/>
                <a:cs typeface="Calibri" pitchFamily="34" charset="-120"/>
              </a:rPr>
              <a:t>Memory &amp; state</a:t>
            </a:r>
            <a:endParaRPr lang="en-US" sz="1200" dirty="0"/>
          </a:p>
        </p:txBody>
      </p:sp>
      <p:sp>
        <p:nvSpPr>
          <p:cNvPr id="23" name="Text 21"/>
          <p:cNvSpPr txBox="1"/>
          <p:nvPr/>
        </p:nvSpPr>
        <p:spPr>
          <a:xfrm>
            <a:off x="5212080" y="2880360"/>
            <a:ext cx="1005840" cy="868680"/>
          </a:xfrm>
          <a:prstGeom prst="rect">
            <a:avLst/>
          </a:prstGeom>
          <a:noFill/>
          <a:ln/>
        </p:spPr>
        <p:txBody>
          <a:bodyPr wrap="square" lIns="0" tIns="0" rIns="0" bIns="0" rtlCol="0" anchor="t"/>
          <a:lstStyle/>
          <a:p>
            <a:pPr algn="ctr" indent="0" marL="0">
              <a:buNone/>
            </a:pPr>
            <a:r>
              <a:rPr lang="en-US" sz="950" dirty="0">
                <a:solidFill>
                  <a:srgbClr val="4A5568"/>
                </a:solidFill>
                <a:latin typeface="Calibri" pitchFamily="34" charset="0"/>
                <a:ea typeface="Calibri" pitchFamily="34" charset="-122"/>
                <a:cs typeface="Calibri" pitchFamily="34" charset="-120"/>
              </a:rPr>
              <a:t>Case session, duplicate hint</a:t>
            </a:r>
            <a:endParaRPr lang="en-US" sz="950" dirty="0"/>
          </a:p>
        </p:txBody>
      </p:sp>
      <p:sp>
        <p:nvSpPr>
          <p:cNvPr id="24" name="step-dot-5"/>
          <p:cNvSpPr/>
          <p:nvPr/>
        </p:nvSpPr>
        <p:spPr>
          <a:xfrm>
            <a:off x="6629400" y="1737360"/>
            <a:ext cx="548640" cy="548640"/>
          </a:xfrm>
          <a:prstGeom prst="ellipse">
            <a:avLst/>
          </a:prstGeom>
          <a:solidFill>
            <a:schemeClr val="accent1"/>
          </a:solidFill>
          <a:ln w="12700">
            <a:solidFill>
              <a:schemeClr val="accent1"/>
            </a:solidFill>
            <a:prstDash val="solid"/>
          </a:ln>
        </p:spPr>
      </p:sp>
      <p:sp>
        <p:nvSpPr>
          <p:cNvPr id="25" name="Text 23"/>
          <p:cNvSpPr txBox="1"/>
          <p:nvPr/>
        </p:nvSpPr>
        <p:spPr>
          <a:xfrm>
            <a:off x="6629400" y="1737360"/>
            <a:ext cx="548640" cy="54864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W7</a:t>
            </a:r>
            <a:endParaRPr lang="en-US" sz="1300" dirty="0"/>
          </a:p>
        </p:txBody>
      </p:sp>
      <p:sp>
        <p:nvSpPr>
          <p:cNvPr id="26" name="Text 24"/>
          <p:cNvSpPr txBox="1"/>
          <p:nvPr/>
        </p:nvSpPr>
        <p:spPr>
          <a:xfrm>
            <a:off x="6400800" y="2423160"/>
            <a:ext cx="1005840" cy="457200"/>
          </a:xfrm>
          <a:prstGeom prst="rect">
            <a:avLst/>
          </a:prstGeom>
          <a:noFill/>
          <a:ln/>
        </p:spPr>
        <p:txBody>
          <a:bodyPr wrap="square" lIns="0" tIns="0" rIns="0" bIns="0" rtlCol="0" anchor="ctr"/>
          <a:lstStyle/>
          <a:p>
            <a:pPr algn="ctr" indent="0" marL="0">
              <a:buNone/>
            </a:pPr>
            <a:r>
              <a:rPr lang="en-US" sz="1200" b="1" dirty="0">
                <a:solidFill>
                  <a:schemeClr val="tx1"/>
                </a:solidFill>
                <a:latin typeface="Calibri" pitchFamily="34" charset="0"/>
                <a:ea typeface="Calibri" pitchFamily="34" charset="-122"/>
                <a:cs typeface="Calibri" pitchFamily="34" charset="-120"/>
              </a:rPr>
              <a:t>Evaluate &amp; guard</a:t>
            </a:r>
            <a:endParaRPr lang="en-US" sz="1200" dirty="0"/>
          </a:p>
        </p:txBody>
      </p:sp>
      <p:sp>
        <p:nvSpPr>
          <p:cNvPr id="27" name="Text 25"/>
          <p:cNvSpPr txBox="1"/>
          <p:nvPr/>
        </p:nvSpPr>
        <p:spPr>
          <a:xfrm>
            <a:off x="6400800" y="2880360"/>
            <a:ext cx="1005840" cy="868680"/>
          </a:xfrm>
          <a:prstGeom prst="rect">
            <a:avLst/>
          </a:prstGeom>
          <a:noFill/>
          <a:ln/>
        </p:spPr>
        <p:txBody>
          <a:bodyPr wrap="square" lIns="0" tIns="0" rIns="0" bIns="0" rtlCol="0" anchor="t"/>
          <a:lstStyle/>
          <a:p>
            <a:pPr algn="ctr" indent="0" marL="0">
              <a:buNone/>
            </a:pPr>
            <a:r>
              <a:rPr lang="en-US" sz="950" dirty="0">
                <a:solidFill>
                  <a:srgbClr val="4A5568"/>
                </a:solidFill>
                <a:latin typeface="Calibri" pitchFamily="34" charset="0"/>
                <a:ea typeface="Calibri" pitchFamily="34" charset="-122"/>
                <a:cs typeface="Calibri" pitchFamily="34" charset="-120"/>
              </a:rPr>
              <a:t>46 scenarios, guardrails, traces</a:t>
            </a:r>
            <a:endParaRPr lang="en-US" sz="950" dirty="0"/>
          </a:p>
        </p:txBody>
      </p:sp>
      <p:sp>
        <p:nvSpPr>
          <p:cNvPr id="28" name="step-dot-6"/>
          <p:cNvSpPr/>
          <p:nvPr/>
        </p:nvSpPr>
        <p:spPr>
          <a:xfrm>
            <a:off x="7818120" y="1737360"/>
            <a:ext cx="548640" cy="548640"/>
          </a:xfrm>
          <a:prstGeom prst="ellipse">
            <a:avLst/>
          </a:prstGeom>
          <a:solidFill>
            <a:schemeClr val="accent2"/>
          </a:solidFill>
          <a:ln w="12700">
            <a:solidFill>
              <a:schemeClr val="accent2"/>
            </a:solidFill>
            <a:prstDash val="solid"/>
          </a:ln>
        </p:spPr>
      </p:sp>
      <p:sp>
        <p:nvSpPr>
          <p:cNvPr id="29" name="Text 27"/>
          <p:cNvSpPr txBox="1"/>
          <p:nvPr/>
        </p:nvSpPr>
        <p:spPr>
          <a:xfrm>
            <a:off x="7818120" y="1737360"/>
            <a:ext cx="548640" cy="548640"/>
          </a:xfrm>
          <a:prstGeom prst="rect">
            <a:avLst/>
          </a:prstGeom>
          <a:noFill/>
          <a:ln/>
        </p:spPr>
        <p:txBody>
          <a:bodyPr wrap="square" lIns="0" tIns="0" rIns="0" bIns="0" rtlCol="0" anchor="ctr"/>
          <a:lstStyle/>
          <a:p>
            <a:pPr algn="ctr" indent="0" marL="0">
              <a:buNone/>
            </a:pPr>
            <a:r>
              <a:rPr lang="en-US" sz="1300" b="1" dirty="0">
                <a:solidFill>
                  <a:schemeClr val="tx1"/>
                </a:solidFill>
                <a:latin typeface="Calibri" pitchFamily="34" charset="0"/>
                <a:ea typeface="Calibri" pitchFamily="34" charset="-122"/>
                <a:cs typeface="Calibri" pitchFamily="34" charset="-120"/>
              </a:rPr>
              <a:t>W8</a:t>
            </a:r>
            <a:endParaRPr lang="en-US" sz="1300" dirty="0"/>
          </a:p>
        </p:txBody>
      </p:sp>
      <p:sp>
        <p:nvSpPr>
          <p:cNvPr id="30" name="Text 28"/>
          <p:cNvSpPr txBox="1"/>
          <p:nvPr/>
        </p:nvSpPr>
        <p:spPr>
          <a:xfrm>
            <a:off x="7589520" y="2423160"/>
            <a:ext cx="1005840" cy="457200"/>
          </a:xfrm>
          <a:prstGeom prst="rect">
            <a:avLst/>
          </a:prstGeom>
          <a:noFill/>
          <a:ln/>
        </p:spPr>
        <p:txBody>
          <a:bodyPr wrap="square" lIns="0" tIns="0" rIns="0" bIns="0" rtlCol="0" anchor="ctr"/>
          <a:lstStyle/>
          <a:p>
            <a:pPr algn="ctr" indent="0" marL="0">
              <a:buNone/>
            </a:pPr>
            <a:r>
              <a:rPr lang="en-US" sz="1200" b="1" dirty="0">
                <a:solidFill>
                  <a:schemeClr val="tx1"/>
                </a:solidFill>
                <a:latin typeface="Calibri" pitchFamily="34" charset="0"/>
                <a:ea typeface="Calibri" pitchFamily="34" charset="-122"/>
                <a:cs typeface="Calibri" pitchFamily="34" charset="-120"/>
              </a:rPr>
              <a:t>Harden &amp; release</a:t>
            </a:r>
            <a:endParaRPr lang="en-US" sz="1200" dirty="0"/>
          </a:p>
        </p:txBody>
      </p:sp>
      <p:sp>
        <p:nvSpPr>
          <p:cNvPr id="31" name="Text 29"/>
          <p:cNvSpPr txBox="1"/>
          <p:nvPr/>
        </p:nvSpPr>
        <p:spPr>
          <a:xfrm>
            <a:off x="7589520" y="2880360"/>
            <a:ext cx="1005840" cy="868680"/>
          </a:xfrm>
          <a:prstGeom prst="rect">
            <a:avLst/>
          </a:prstGeom>
          <a:noFill/>
          <a:ln/>
        </p:spPr>
        <p:txBody>
          <a:bodyPr wrap="square" lIns="0" tIns="0" rIns="0" bIns="0" rtlCol="0" anchor="t"/>
          <a:lstStyle/>
          <a:p>
            <a:pPr algn="ctr" indent="0" marL="0">
              <a:buNone/>
            </a:pPr>
            <a:r>
              <a:rPr lang="en-US" sz="950" dirty="0">
                <a:solidFill>
                  <a:srgbClr val="4A5568"/>
                </a:solidFill>
                <a:latin typeface="Calibri" pitchFamily="34" charset="0"/>
                <a:ea typeface="Calibri" pitchFamily="34" charset="-122"/>
                <a:cs typeface="Calibri" pitchFamily="34" charset="-120"/>
              </a:rPr>
              <a:t>Held-out set, 79 tests, v1.0.0</a:t>
            </a:r>
            <a:endParaRPr lang="en-US" sz="950" dirty="0"/>
          </a:p>
        </p:txBody>
      </p:sp>
      <p:sp>
        <p:nvSpPr>
          <p:cNvPr id="32" name="built-callout"/>
          <p:cNvSpPr/>
          <p:nvPr/>
        </p:nvSpPr>
        <p:spPr>
          <a:xfrm>
            <a:off x="502920" y="3886200"/>
            <a:ext cx="8138160" cy="640080"/>
          </a:xfrm>
          <a:prstGeom prst="roundRect">
            <a:avLst>
              <a:gd name="adj" fmla="val 11429"/>
            </a:avLst>
          </a:prstGeom>
          <a:solidFill>
            <a:schemeClr val="bg2"/>
          </a:solidFill>
          <a:ln w="12700">
            <a:solidFill>
              <a:schemeClr val="bg2"/>
            </a:solidFill>
            <a:prstDash val="solid"/>
          </a:ln>
        </p:spPr>
      </p:sp>
      <p:sp>
        <p:nvSpPr>
          <p:cNvPr id="33" name="Text 31"/>
          <p:cNvSpPr txBox="1"/>
          <p:nvPr/>
        </p:nvSpPr>
        <p:spPr>
          <a:xfrm>
            <a:off x="685800" y="3931920"/>
            <a:ext cx="7772400" cy="548640"/>
          </a:xfrm>
          <a:prstGeom prst="rect">
            <a:avLst/>
          </a:prstGeom>
          <a:noFill/>
          <a:ln/>
        </p:spPr>
        <p:txBody>
          <a:bodyPr wrap="square" lIns="0" tIns="0" rIns="0" bIns="0" rtlCol="0" anchor="ctr"/>
          <a:lstStyle/>
          <a:p>
            <a:pPr indent="0" marL="0">
              <a:buNone/>
            </a:pPr>
            <a:r>
              <a:rPr lang="en-US" sz="1200" dirty="0">
                <a:solidFill>
                  <a:schemeClr val="tx1"/>
                </a:solidFill>
                <a:latin typeface="Calibri" pitchFamily="34" charset="0"/>
                <a:ea typeface="Calibri" pitchFamily="34" charset="-122"/>
                <a:cs typeface="Calibri" pitchFamily="34" charset="-120"/>
              </a:rPr>
              <a:t>Honest note: Week 8 review found Week 2's chosen model had been shut down by Google, and some Week 2 text described tests that were never run. Both were corrected.</a:t>
            </a:r>
            <a:endParaRPr lang="en-US" sz="1200" dirty="0"/>
          </a:p>
        </p:txBody>
      </p:sp>
      <p:sp>
        <p:nvSpPr>
          <p:cNvPr id="25" name="Slide Number Placeholder 0"/>
          <p:cNvSpPr>
            <a:spLocks noGrp="1"/>
          </p:cNvSpPr>
          <p:nvPr>
            <p:ph type="sldNum" sz="quarter" idx="4294967295"/>
          </p:nvPr>
        </p:nvSpPr>
        <p:spPr>
          <a:xfrm>
            <a:off x="8412480" y="48006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8D99AE"/>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02920" y="320040"/>
            <a:ext cx="8138160" cy="731520"/>
          </a:xfrm>
          <a:prstGeom prst="rect">
            <a:avLst/>
          </a:prstGeom>
          <a:noFill/>
          <a:ln/>
        </p:spPr>
        <p:txBody>
          <a:bodyPr wrap="square" lIns="0" tIns="0" rIns="0" bIns="0" rtlCol="0" anchor="t"/>
          <a:lstStyle/>
          <a:p>
            <a:pPr indent="0" marL="0">
              <a:buNone/>
            </a:pPr>
            <a:r>
              <a:rPr lang="en-US" sz="2800" b="1" dirty="0">
                <a:solidFill>
                  <a:srgbClr val="FFFFFF"/>
                </a:solidFill>
                <a:latin typeface="Georgia" pitchFamily="34" charset="0"/>
                <a:ea typeface="Georgia" pitchFamily="34" charset="-122"/>
                <a:cs typeface="Georgia" pitchFamily="34" charset="-120"/>
              </a:rPr>
              <a:t>Live demo</a:t>
            </a:r>
            <a:endParaRPr lang="en-US" sz="2800" dirty="0"/>
          </a:p>
        </p:txBody>
      </p:sp>
      <p:sp>
        <p:nvSpPr>
          <p:cNvPr id="3" name="demo-badge"/>
          <p:cNvSpPr/>
          <p:nvPr/>
        </p:nvSpPr>
        <p:spPr>
          <a:xfrm>
            <a:off x="7635240" y="320040"/>
            <a:ext cx="731520" cy="731520"/>
          </a:xfrm>
          <a:prstGeom prst="ellipse">
            <a:avLst/>
          </a:prstGeom>
          <a:solidFill>
            <a:schemeClr val="accent2"/>
          </a:solidFill>
          <a:ln w="12700">
            <a:solidFill>
              <a:schemeClr val="accent2"/>
            </a:solidFill>
            <a:prstDash val="solid"/>
          </a:ln>
        </p:spPr>
      </p:sp>
      <p:pic>
        <p:nvPicPr>
          <p:cNvPr id="4" name="Image 0" descr="Play">    </p:cNvPr>
          <p:cNvPicPr>
            <a:picLocks noChangeAspect="1"/>
          </p:cNvPicPr>
          <p:nvPr/>
        </p:nvPicPr>
        <p:blipFill>
          <a:blip r:embed="rId1"/>
          <a:stretch>
            <a:fillRect/>
          </a:stretch>
        </p:blipFill>
        <p:spPr>
          <a:xfrm>
            <a:off x="7882128" y="566928"/>
            <a:ext cx="237744" cy="237744"/>
          </a:xfrm>
          <a:prstGeom prst="rect">
            <a:avLst/>
          </a:prstGeom>
        </p:spPr>
      </p:pic>
      <p:sp>
        <p:nvSpPr>
          <p:cNvPr id="5" name="scene-dot-0"/>
          <p:cNvSpPr/>
          <p:nvPr/>
        </p:nvSpPr>
        <p:spPr>
          <a:xfrm>
            <a:off x="548640" y="1234440"/>
            <a:ext cx="329184" cy="329184"/>
          </a:xfrm>
          <a:prstGeom prst="ellipse">
            <a:avLst/>
          </a:prstGeom>
          <a:solidFill>
            <a:schemeClr val="accent1"/>
          </a:solidFill>
          <a:ln w="12700">
            <a:solidFill>
              <a:schemeClr val="accent1"/>
            </a:solidFill>
            <a:prstDash val="solid"/>
          </a:ln>
        </p:spPr>
      </p:sp>
      <p:sp>
        <p:nvSpPr>
          <p:cNvPr id="6" name="Text 3"/>
          <p:cNvSpPr txBox="1"/>
          <p:nvPr/>
        </p:nvSpPr>
        <p:spPr>
          <a:xfrm>
            <a:off x="548640" y="1234440"/>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4"/>
          <p:cNvSpPr txBox="1"/>
          <p:nvPr/>
        </p:nvSpPr>
        <p:spPr>
          <a:xfrm>
            <a:off x="1051560" y="1234440"/>
            <a:ext cx="4480560" cy="329184"/>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Grounded answer with a [Source]</a:t>
            </a:r>
            <a:endParaRPr lang="en-US" sz="1500" dirty="0"/>
          </a:p>
        </p:txBody>
      </p:sp>
      <p:sp>
        <p:nvSpPr>
          <p:cNvPr id="8" name="scene-dot-1"/>
          <p:cNvSpPr/>
          <p:nvPr/>
        </p:nvSpPr>
        <p:spPr>
          <a:xfrm>
            <a:off x="548640" y="1709928"/>
            <a:ext cx="329184" cy="329184"/>
          </a:xfrm>
          <a:prstGeom prst="ellipse">
            <a:avLst/>
          </a:prstGeom>
          <a:solidFill>
            <a:schemeClr val="accent1"/>
          </a:solidFill>
          <a:ln w="12700">
            <a:solidFill>
              <a:schemeClr val="accent1"/>
            </a:solidFill>
            <a:prstDash val="solid"/>
          </a:ln>
        </p:spPr>
      </p:sp>
      <p:sp>
        <p:nvSpPr>
          <p:cNvPr id="9" name="Text 6"/>
          <p:cNvSpPr txBox="1"/>
          <p:nvPr/>
        </p:nvSpPr>
        <p:spPr>
          <a:xfrm>
            <a:off x="548640" y="1709928"/>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0" name="Text 7"/>
          <p:cNvSpPr txBox="1"/>
          <p:nvPr/>
        </p:nvSpPr>
        <p:spPr>
          <a:xfrm>
            <a:off x="1051560" y="1709928"/>
            <a:ext cx="4480560" cy="329184"/>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Outage tool: confirmed outage + ETA</a:t>
            </a:r>
            <a:endParaRPr lang="en-US" sz="1500" dirty="0"/>
          </a:p>
        </p:txBody>
      </p:sp>
      <p:sp>
        <p:nvSpPr>
          <p:cNvPr id="11" name="scene-dot-2"/>
          <p:cNvSpPr/>
          <p:nvPr/>
        </p:nvSpPr>
        <p:spPr>
          <a:xfrm>
            <a:off x="548640" y="2185416"/>
            <a:ext cx="329184" cy="329184"/>
          </a:xfrm>
          <a:prstGeom prst="ellipse">
            <a:avLst/>
          </a:prstGeom>
          <a:solidFill>
            <a:schemeClr val="accent1"/>
          </a:solidFill>
          <a:ln w="12700">
            <a:solidFill>
              <a:schemeClr val="accent1"/>
            </a:solidFill>
            <a:prstDash val="solid"/>
          </a:ln>
        </p:spPr>
      </p:sp>
      <p:sp>
        <p:nvSpPr>
          <p:cNvPr id="12" name="Text 9"/>
          <p:cNvSpPr txBox="1"/>
          <p:nvPr/>
        </p:nvSpPr>
        <p:spPr>
          <a:xfrm>
            <a:off x="548640" y="2185416"/>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3" name="Text 10"/>
          <p:cNvSpPr txBox="1"/>
          <p:nvPr/>
        </p:nvSpPr>
        <p:spPr>
          <a:xfrm>
            <a:off x="1051560" y="2185416"/>
            <a:ext cx="4480560" cy="329184"/>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Vague message, then reply continues the case</a:t>
            </a:r>
            <a:endParaRPr lang="en-US" sz="1500" dirty="0"/>
          </a:p>
        </p:txBody>
      </p:sp>
      <p:sp>
        <p:nvSpPr>
          <p:cNvPr id="14" name="scene-dot-3"/>
          <p:cNvSpPr/>
          <p:nvPr/>
        </p:nvSpPr>
        <p:spPr>
          <a:xfrm>
            <a:off x="548640" y="2660904"/>
            <a:ext cx="329184" cy="329184"/>
          </a:xfrm>
          <a:prstGeom prst="ellipse">
            <a:avLst/>
          </a:prstGeom>
          <a:solidFill>
            <a:schemeClr val="accent1"/>
          </a:solidFill>
          <a:ln w="12700">
            <a:solidFill>
              <a:schemeClr val="accent1"/>
            </a:solidFill>
            <a:prstDash val="solid"/>
          </a:ln>
        </p:spPr>
      </p:sp>
      <p:sp>
        <p:nvSpPr>
          <p:cNvPr id="15" name="Text 12"/>
          <p:cNvSpPr txBox="1"/>
          <p:nvPr/>
        </p:nvSpPr>
        <p:spPr>
          <a:xfrm>
            <a:off x="548640" y="2660904"/>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6" name="Text 13"/>
          <p:cNvSpPr txBox="1"/>
          <p:nvPr/>
        </p:nvSpPr>
        <p:spPr>
          <a:xfrm>
            <a:off x="1051560" y="2660904"/>
            <a:ext cx="4480560" cy="329184"/>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No answer → ticket → human approves</a:t>
            </a:r>
            <a:endParaRPr lang="en-US" sz="1500" dirty="0"/>
          </a:p>
        </p:txBody>
      </p:sp>
      <p:sp>
        <p:nvSpPr>
          <p:cNvPr id="17" name="scene-dot-4"/>
          <p:cNvSpPr/>
          <p:nvPr/>
        </p:nvSpPr>
        <p:spPr>
          <a:xfrm>
            <a:off x="548640" y="3136392"/>
            <a:ext cx="329184" cy="329184"/>
          </a:xfrm>
          <a:prstGeom prst="ellipse">
            <a:avLst/>
          </a:prstGeom>
          <a:solidFill>
            <a:schemeClr val="accent1"/>
          </a:solidFill>
          <a:ln w="12700">
            <a:solidFill>
              <a:schemeClr val="accent1"/>
            </a:solidFill>
            <a:prstDash val="solid"/>
          </a:ln>
        </p:spPr>
      </p:sp>
      <p:sp>
        <p:nvSpPr>
          <p:cNvPr id="18" name="Text 15"/>
          <p:cNvSpPr txBox="1"/>
          <p:nvPr/>
        </p:nvSpPr>
        <p:spPr>
          <a:xfrm>
            <a:off x="548640" y="313639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19" name="Text 16"/>
          <p:cNvSpPr txBox="1"/>
          <p:nvPr/>
        </p:nvSpPr>
        <p:spPr>
          <a:xfrm>
            <a:off x="1051560" y="3136392"/>
            <a:ext cx="4480560" cy="329184"/>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Tool down: one retry, then recovery</a:t>
            </a:r>
            <a:endParaRPr lang="en-US" sz="1500" dirty="0"/>
          </a:p>
        </p:txBody>
      </p:sp>
      <p:sp>
        <p:nvSpPr>
          <p:cNvPr id="20" name="scene-dot-5"/>
          <p:cNvSpPr/>
          <p:nvPr/>
        </p:nvSpPr>
        <p:spPr>
          <a:xfrm>
            <a:off x="548640" y="3611880"/>
            <a:ext cx="329184" cy="329184"/>
          </a:xfrm>
          <a:prstGeom prst="ellipse">
            <a:avLst/>
          </a:prstGeom>
          <a:solidFill>
            <a:schemeClr val="accent1"/>
          </a:solidFill>
          <a:ln w="12700">
            <a:solidFill>
              <a:schemeClr val="accent1"/>
            </a:solidFill>
            <a:prstDash val="solid"/>
          </a:ln>
        </p:spPr>
      </p:sp>
      <p:sp>
        <p:nvSpPr>
          <p:cNvPr id="21" name="Text 18"/>
          <p:cNvSpPr txBox="1"/>
          <p:nvPr/>
        </p:nvSpPr>
        <p:spPr>
          <a:xfrm>
            <a:off x="548640" y="3611880"/>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22" name="Text 19"/>
          <p:cNvSpPr txBox="1"/>
          <p:nvPr/>
        </p:nvSpPr>
        <p:spPr>
          <a:xfrm>
            <a:off x="1051560" y="3611880"/>
            <a:ext cx="4480560" cy="329184"/>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Prompt injection blocked before the agent</a:t>
            </a:r>
            <a:endParaRPr lang="en-US" sz="1500" dirty="0"/>
          </a:p>
        </p:txBody>
      </p:sp>
      <p:sp>
        <p:nvSpPr>
          <p:cNvPr id="23" name="scene-dot-6"/>
          <p:cNvSpPr/>
          <p:nvPr/>
        </p:nvSpPr>
        <p:spPr>
          <a:xfrm>
            <a:off x="548640" y="4087368"/>
            <a:ext cx="329184" cy="329184"/>
          </a:xfrm>
          <a:prstGeom prst="ellipse">
            <a:avLst/>
          </a:prstGeom>
          <a:solidFill>
            <a:schemeClr val="accent3"/>
          </a:solidFill>
          <a:ln w="12700">
            <a:solidFill>
              <a:schemeClr val="accent3"/>
            </a:solidFill>
            <a:prstDash val="solid"/>
          </a:ln>
        </p:spPr>
      </p:sp>
      <p:sp>
        <p:nvSpPr>
          <p:cNvPr id="24" name="Text 21"/>
          <p:cNvSpPr txBox="1"/>
          <p:nvPr/>
        </p:nvSpPr>
        <p:spPr>
          <a:xfrm>
            <a:off x="548640" y="4087368"/>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7</a:t>
            </a:r>
            <a:endParaRPr lang="en-US" sz="1300" dirty="0"/>
          </a:p>
        </p:txBody>
      </p:sp>
      <p:sp>
        <p:nvSpPr>
          <p:cNvPr id="25" name="Text 22"/>
          <p:cNvSpPr txBox="1"/>
          <p:nvPr/>
        </p:nvSpPr>
        <p:spPr>
          <a:xfrm>
            <a:off x="1051560" y="4087368"/>
            <a:ext cx="4480560" cy="329184"/>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A real failure: “No wifi.”</a:t>
            </a:r>
            <a:endParaRPr lang="en-US" sz="1500" dirty="0"/>
          </a:p>
        </p:txBody>
      </p:sp>
      <p:sp>
        <p:nvSpPr>
          <p:cNvPr id="26" name="cmd-card"/>
          <p:cNvSpPr/>
          <p:nvPr/>
        </p:nvSpPr>
        <p:spPr>
          <a:xfrm>
            <a:off x="5760720" y="1234440"/>
            <a:ext cx="2926080" cy="1417320"/>
          </a:xfrm>
          <a:prstGeom prst="roundRect">
            <a:avLst>
              <a:gd name="adj" fmla="val 5161"/>
            </a:avLst>
          </a:prstGeom>
          <a:solidFill>
            <a:schemeClr val="accent6"/>
          </a:solidFill>
          <a:ln w="12700">
            <a:solidFill>
              <a:schemeClr val="accent6"/>
            </a:solidFill>
            <a:prstDash val="solid"/>
          </a:ln>
        </p:spPr>
      </p:sp>
      <p:sp>
        <p:nvSpPr>
          <p:cNvPr id="27" name="Text 24"/>
          <p:cNvSpPr txBox="1"/>
          <p:nvPr/>
        </p:nvSpPr>
        <p:spPr>
          <a:xfrm>
            <a:off x="5943600" y="1344168"/>
            <a:ext cx="2560320" cy="228600"/>
          </a:xfrm>
          <a:prstGeom prst="rect">
            <a:avLst/>
          </a:prstGeom>
          <a:noFill/>
          <a:ln/>
        </p:spPr>
        <p:txBody>
          <a:bodyPr wrap="square" lIns="0" tIns="0" rIns="0" bIns="0" rtlCol="0" anchor="ctr"/>
          <a:lstStyle/>
          <a:p>
            <a:pPr indent="0" marL="0">
              <a:buNone/>
            </a:pPr>
            <a:r>
              <a:rPr lang="en-US" sz="1000" b="1" spc="300" kern="0" dirty="0">
                <a:solidFill>
                  <a:schemeClr val="accent2"/>
                </a:solidFill>
                <a:latin typeface="Calibri" pitchFamily="34" charset="0"/>
                <a:ea typeface="Calibri" pitchFamily="34" charset="-122"/>
                <a:cs typeface="Calibri" pitchFamily="34" charset="-120"/>
              </a:rPr>
              <a:t>RUN</a:t>
            </a:r>
            <a:endParaRPr lang="en-US" sz="1000" dirty="0"/>
          </a:p>
        </p:txBody>
      </p:sp>
      <p:sp>
        <p:nvSpPr>
          <p:cNvPr id="28" name="Text 25"/>
          <p:cNvSpPr txBox="1"/>
          <p:nvPr/>
        </p:nvSpPr>
        <p:spPr>
          <a:xfrm>
            <a:off x="5943600" y="1627632"/>
            <a:ext cx="2651760" cy="320040"/>
          </a:xfrm>
          <a:prstGeom prst="rect">
            <a:avLst/>
          </a:prstGeom>
          <a:noFill/>
          <a:ln/>
        </p:spPr>
        <p:txBody>
          <a:bodyPr wrap="square" lIns="0" tIns="0" rIns="0" bIns="0" rtlCol="0" anchor="ctr"/>
          <a:lstStyle/>
          <a:p>
            <a:pPr indent="0" marL="0">
              <a:buNone/>
            </a:pPr>
            <a:r>
              <a:rPr lang="en-US" sz="1300" dirty="0">
                <a:solidFill>
                  <a:srgbClr val="FFFFFF"/>
                </a:solidFill>
                <a:latin typeface="Consolas" pitchFamily="34" charset="0"/>
                <a:ea typeface="Consolas" pitchFamily="34" charset="-122"/>
                <a:cs typeface="Consolas" pitchFamily="34" charset="-120"/>
              </a:rPr>
              <a:t>python src/run_demo.py</a:t>
            </a:r>
            <a:endParaRPr lang="en-US" sz="1300" dirty="0"/>
          </a:p>
        </p:txBody>
      </p:sp>
      <p:sp>
        <p:nvSpPr>
          <p:cNvPr id="29" name="Text 26"/>
          <p:cNvSpPr txBox="1"/>
          <p:nvPr/>
        </p:nvSpPr>
        <p:spPr>
          <a:xfrm>
            <a:off x="5943600" y="2011680"/>
            <a:ext cx="2651760" cy="548640"/>
          </a:xfrm>
          <a:prstGeom prst="rect">
            <a:avLst/>
          </a:prstGeom>
          <a:noFill/>
          <a:ln/>
        </p:spPr>
        <p:txBody>
          <a:bodyPr wrap="square" lIns="0" tIns="0" rIns="0" bIns="0" rtlCol="0" anchor="t"/>
          <a:lstStyle/>
          <a:p>
            <a:pPr indent="0" marL="0">
              <a:buNone/>
            </a:pPr>
            <a:r>
              <a:rPr lang="en-US" sz="1000" dirty="0">
                <a:solidFill>
                  <a:srgbClr val="CADCFC"/>
                </a:solidFill>
                <a:latin typeface="Consolas" pitchFamily="34" charset="0"/>
                <a:ea typeface="Consolas" pitchFamily="34" charset="-122"/>
                <a:cs typeface="Consolas" pitchFamily="34" charset="-120"/>
              </a:rPr>
              <a:t>--scene 4   one scene</a:t>
            </a:r>
            <a:endParaRPr lang="en-US" sz="1000" dirty="0"/>
          </a:p>
          <a:p>
            <a:pPr indent="0" marL="0">
              <a:buNone/>
            </a:pPr>
            <a:r>
              <a:rPr lang="en-US" sz="1000" dirty="0">
                <a:solidFill>
                  <a:srgbClr val="CADCFC"/>
                </a:solidFill>
                <a:latin typeface="Consolas" pitchFamily="34" charset="0"/>
                <a:ea typeface="Consolas" pitchFamily="34" charset="-122"/>
                <a:cs typeface="Consolas" pitchFamily="34" charset="-120"/>
              </a:rPr>
              <a:t>--interactive   type your own</a:t>
            </a:r>
            <a:endParaRPr lang="en-US" sz="1000" dirty="0"/>
          </a:p>
        </p:txBody>
      </p:sp>
      <p:sp>
        <p:nvSpPr>
          <p:cNvPr id="30" name="fallback-card"/>
          <p:cNvSpPr/>
          <p:nvPr/>
        </p:nvSpPr>
        <p:spPr>
          <a:xfrm>
            <a:off x="5760720" y="2834640"/>
            <a:ext cx="2926080" cy="1417320"/>
          </a:xfrm>
          <a:prstGeom prst="roundRect">
            <a:avLst>
              <a:gd name="adj" fmla="val 5161"/>
            </a:avLst>
          </a:prstGeom>
          <a:solidFill>
            <a:schemeClr val="tx2"/>
          </a:solidFill>
          <a:ln w="12700">
            <a:solidFill>
              <a:schemeClr val="tx2"/>
            </a:solidFill>
            <a:prstDash val="solid"/>
          </a:ln>
        </p:spPr>
      </p:sp>
      <p:sp>
        <p:nvSpPr>
          <p:cNvPr id="31" name="Text 28"/>
          <p:cNvSpPr txBox="1"/>
          <p:nvPr/>
        </p:nvSpPr>
        <p:spPr>
          <a:xfrm>
            <a:off x="5943600" y="2944368"/>
            <a:ext cx="2560320" cy="228600"/>
          </a:xfrm>
          <a:prstGeom prst="rect">
            <a:avLst/>
          </a:prstGeom>
          <a:noFill/>
          <a:ln/>
        </p:spPr>
        <p:txBody>
          <a:bodyPr wrap="square" lIns="0" tIns="0" rIns="0" bIns="0" rtlCol="0" anchor="ctr"/>
          <a:lstStyle/>
          <a:p>
            <a:pPr indent="0" marL="0">
              <a:buNone/>
            </a:pPr>
            <a:r>
              <a:rPr lang="en-US" sz="1000" b="1" spc="300" kern="0" dirty="0">
                <a:solidFill>
                  <a:schemeClr val="accent2"/>
                </a:solidFill>
                <a:latin typeface="Calibri" pitchFamily="34" charset="0"/>
                <a:ea typeface="Calibri" pitchFamily="34" charset="-122"/>
                <a:cs typeface="Calibri" pitchFamily="34" charset="-120"/>
              </a:rPr>
              <a:t>WHAT TO WATCH</a:t>
            </a:r>
            <a:endParaRPr lang="en-US" sz="1000" dirty="0"/>
          </a:p>
        </p:txBody>
      </p:sp>
      <p:sp>
        <p:nvSpPr>
          <p:cNvPr id="32" name="Text 29"/>
          <p:cNvSpPr txBox="1"/>
          <p:nvPr/>
        </p:nvSpPr>
        <p:spPr>
          <a:xfrm>
            <a:off x="5943600" y="3246120"/>
            <a:ext cx="2606040" cy="914400"/>
          </a:xfrm>
          <a:prstGeom prst="rect">
            <a:avLst/>
          </a:prstGeom>
          <a:noFill/>
          <a:ln/>
        </p:spPr>
        <p:txBody>
          <a:bodyPr wrap="square" lIns="0" tIns="0" rIns="0" bIns="0" rtlCol="0" anchor="t"/>
          <a:lstStyle/>
          <a:p>
            <a:pPr indent="0" marL="0">
              <a:buNone/>
            </a:pPr>
            <a:r>
              <a:rPr lang="en-US" sz="1150" dirty="0">
                <a:solidFill>
                  <a:srgbClr val="FFFFFF"/>
                </a:solidFill>
                <a:latin typeface="Calibri" pitchFamily="34" charset="0"/>
                <a:ea typeface="Calibri" pitchFamily="34" charset="-122"/>
                <a:cs typeface="Calibri" pitchFamily="34" charset="-120"/>
              </a:rPr>
              <a:t>Every reply is followed by its trace. If anything breaks: evidence/demo/demo_transcript.txt</a:t>
            </a:r>
            <a:endParaRPr lang="en-US" sz="1150" dirty="0"/>
          </a:p>
        </p:txBody>
      </p:sp>
      <p:sp>
        <p:nvSpPr>
          <p:cNvPr id="25" name="Slide Number Placeholder 0"/>
          <p:cNvSpPr>
            <a:spLocks noGrp="1"/>
          </p:cNvSpPr>
          <p:nvPr>
            <p:ph type="sldNum" sz="quarter" idx="4294967295"/>
          </p:nvPr>
        </p:nvSpPr>
        <p:spPr>
          <a:xfrm>
            <a:off x="8412480" y="48006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8D99AE"/>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02920" y="274320"/>
            <a:ext cx="8138160" cy="777240"/>
          </a:xfrm>
          <a:prstGeom prst="rect">
            <a:avLst/>
          </a:prstGeom>
          <a:noFill/>
          <a:ln/>
        </p:spPr>
        <p:txBody>
          <a:bodyPr wrap="square" lIns="0" tIns="0" rIns="0" bIns="0" rtlCol="0" anchor="t"/>
          <a:lstStyle/>
          <a:p>
            <a:pPr indent="0" marL="0">
              <a:buNone/>
            </a:pPr>
            <a:r>
              <a:rPr lang="en-US" sz="2500" b="1" dirty="0">
                <a:solidFill>
                  <a:srgbClr val="0B1F33"/>
                </a:solidFill>
                <a:latin typeface="Georgia" pitchFamily="34" charset="0"/>
                <a:ea typeface="Georgia" pitchFamily="34" charset="-122"/>
                <a:cs typeface="Georgia" pitchFamily="34" charset="-120"/>
              </a:rPr>
              <a:t>Engineering view: every decision leaves a trace</a:t>
            </a:r>
            <a:endParaRPr lang="en-US" sz="2500" dirty="0"/>
          </a:p>
        </p:txBody>
      </p:sp>
      <p:graphicFrame>
        <p:nvGraphicFramePr>
          <p:cNvPr id="7" name="trace-table"/>
          <p:cNvGraphicFramePr>
            <a:graphicFrameLocks noGrp="1"/>
          </p:cNvGraphicFramePr>
          <p:nvPr>
            <p:extLst>
              <p:ext uri="{D42A27DB-BD31-4B8C-83A1-F6EECF244321}">
                <p14:modId xmlns:p14="http://schemas.microsoft.com/office/powerpoint/2010/main" val="1579011935"/>
              </p:ext>
            </p:extLst>
          </p:nvPr>
        </p:nvGraphicFramePr>
        <p:xfrm>
          <a:off x="502920" y="1234440"/>
          <a:ext cx="5394960" cy="914400"/>
        </p:xfrm>
        <a:graphic>
          <a:graphicData uri="http://schemas.openxmlformats.org/drawingml/2006/table">
            <a:tbl>
              <a:tblPr/>
              <a:tblGrid>
                <a:gridCol w="2286000"/>
                <a:gridCol w="731520"/>
                <a:gridCol w="2377440"/>
              </a:tblGrid>
              <a:tr h="384048">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step</a:t>
                      </a:r>
                      <a:endParaRPr lang="en-US" sz="1100" dirty="0">
                        <a:latin typeface="Calibri" charset="0"/>
                        <a:ea typeface="Calibri" charset="0"/>
                        <a:cs typeface="Calibri" charset="0"/>
                      </a:endParaRPr>
                    </a:p>
                  </a:txBody>
                  <a:tcPr marL="91440" marR="91440" marT="45720" marB="45720" anchor="ctr">
                    <a:lnL w="6350" cap="flat" cmpd="sng" algn="ctr">
                      <a:solidFill>
                        <a:srgbClr val="D0D7E2"/>
                      </a:solidFill>
                      <a:prstDash val="solid"/>
                      <a:round/>
                      <a:headEnd type="none" w="med" len="med"/>
                      <a:tailEnd type="none" w="med" len="med"/>
                    </a:lnL>
                    <a:lnR w="6350" cap="flat" cmpd="sng" algn="ctr">
                      <a:solidFill>
                        <a:srgbClr val="D0D7E2"/>
                      </a:solidFill>
                      <a:prstDash val="solid"/>
                      <a:round/>
                      <a:headEnd type="none" w="med" len="med"/>
                      <a:tailEnd type="none" w="med" len="med"/>
                    </a:lnR>
                    <a:lnT w="6350" cap="flat" cmpd="sng" algn="ctr">
                      <a:solidFill>
                        <a:srgbClr val="D0D7E2"/>
                      </a:solidFill>
                      <a:prstDash val="solid"/>
                      <a:round/>
                      <a:headEnd type="none" w="med" len="med"/>
                      <a:tailEnd type="none" w="med" len="med"/>
                    </a:lnT>
                    <a:lnB w="6350" cap="flat" cmpd="sng" algn="ctr">
                      <a:solidFill>
                        <a:srgbClr val="D0D7E2"/>
                      </a:solidFill>
                      <a:prstDash val="solid"/>
                      <a:round/>
                      <a:headEnd type="none" w="med" len="med"/>
                      <a:tailEnd type="none" w="med" len="med"/>
                    </a:lnB>
                    <a:solidFill>
                      <a:srgbClr val="13315C"/>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ms</a:t>
                      </a:r>
                      <a:endParaRPr lang="en-US" sz="1100" dirty="0">
                        <a:latin typeface="Calibri" charset="0"/>
                        <a:ea typeface="Calibri" charset="0"/>
                        <a:cs typeface="Calibri" charset="0"/>
                      </a:endParaRPr>
                    </a:p>
                  </a:txBody>
                  <a:tcPr marL="91440" marR="91440" marT="45720" marB="45720" anchor="ctr">
                    <a:lnL w="6350" cap="flat" cmpd="sng" algn="ctr">
                      <a:solidFill>
                        <a:srgbClr val="D0D7E2"/>
                      </a:solidFill>
                      <a:prstDash val="solid"/>
                      <a:round/>
                      <a:headEnd type="none" w="med" len="med"/>
                      <a:tailEnd type="none" w="med" len="med"/>
                    </a:lnL>
                    <a:lnR w="6350" cap="flat" cmpd="sng" algn="ctr">
                      <a:solidFill>
                        <a:srgbClr val="D0D7E2"/>
                      </a:solidFill>
                      <a:prstDash val="solid"/>
                      <a:round/>
                      <a:headEnd type="none" w="med" len="med"/>
                      <a:tailEnd type="none" w="med" len="med"/>
                    </a:lnR>
                    <a:lnT w="6350" cap="flat" cmpd="sng" algn="ctr">
                      <a:solidFill>
                        <a:srgbClr val="D0D7E2"/>
                      </a:solidFill>
                      <a:prstDash val="solid"/>
                      <a:round/>
                      <a:headEnd type="none" w="med" len="med"/>
                      <a:tailEnd type="none" w="med" len="med"/>
                    </a:lnT>
                    <a:lnB w="6350" cap="flat" cmpd="sng" algn="ctr">
                      <a:solidFill>
                        <a:srgbClr val="D0D7E2"/>
                      </a:solidFill>
                      <a:prstDash val="solid"/>
                      <a:round/>
                      <a:headEnd type="none" w="med" len="med"/>
                      <a:tailEnd type="none" w="med" len="med"/>
                    </a:lnB>
                    <a:solidFill>
                      <a:srgbClr val="13315C"/>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what happened</a:t>
                      </a:r>
                      <a:endParaRPr lang="en-US" sz="1100" dirty="0">
                        <a:latin typeface="Calibri" charset="0"/>
                        <a:ea typeface="Calibri" charset="0"/>
                        <a:cs typeface="Calibri" charset="0"/>
                      </a:endParaRPr>
                    </a:p>
                  </a:txBody>
                  <a:tcPr marL="91440" marR="91440" marT="45720" marB="45720" anchor="ctr">
                    <a:lnL w="6350" cap="flat" cmpd="sng" algn="ctr">
                      <a:solidFill>
                        <a:srgbClr val="D0D7E2"/>
                      </a:solidFill>
                      <a:prstDash val="solid"/>
                      <a:round/>
                      <a:headEnd type="none" w="med" len="med"/>
                      <a:tailEnd type="none" w="med" len="med"/>
                    </a:lnL>
                    <a:lnR w="6350" cap="flat" cmpd="sng" algn="ctr">
                      <a:solidFill>
                        <a:srgbClr val="D0D7E2"/>
                      </a:solidFill>
                      <a:prstDash val="solid"/>
                      <a:round/>
                      <a:headEnd type="none" w="med" len="med"/>
                      <a:tailEnd type="none" w="med" len="med"/>
                    </a:lnR>
                    <a:lnT w="6350" cap="flat" cmpd="sng" algn="ctr">
                      <a:solidFill>
                        <a:srgbClr val="D0D7E2"/>
                      </a:solidFill>
                      <a:prstDash val="solid"/>
                      <a:round/>
                      <a:headEnd type="none" w="med" len="med"/>
                      <a:tailEnd type="none" w="med" len="med"/>
                    </a:lnT>
                    <a:lnB w="6350" cap="flat" cmpd="sng" algn="ctr">
                      <a:solidFill>
                        <a:srgbClr val="D0D7E2"/>
                      </a:solidFill>
                      <a:prstDash val="solid"/>
                      <a:round/>
                      <a:headEnd type="none" w="med" len="med"/>
                      <a:tailEnd type="none" w="med" len="med"/>
                    </a:lnB>
                    <a:solidFill>
                      <a:srgbClr val="13315C"/>
                    </a:solidFill>
                  </a:tcPr>
                </a:tc>
              </a:tr>
              <a:tr h="384048">
                <a:tc>
                  <a:txBody>
                    <a:bodyPr/>
                    <a:lstStyle/>
                    <a:p>
                      <a:pPr indent="0" marL="0">
                        <a:buNone/>
                      </a:pPr>
                      <a:r>
                        <a:rPr lang="en-US" sz="1100" dirty="0">
                          <a:solidFill>
                            <a:srgbClr val="0B1F33"/>
                          </a:solidFill>
                          <a:latin typeface="Consolas" pitchFamily="34" charset="0"/>
                          <a:ea typeface="Consolas" pitchFamily="34" charset="-122"/>
                          <a:cs typeface="Consolas" pitchFamily="34" charset="-120"/>
                        </a:rPr>
                        <a:t>classify</a:t>
                      </a:r>
                      <a:endParaRPr lang="en-US" sz="1100" dirty="0">
                        <a:latin typeface="Consolas" charset="0"/>
                        <a:ea typeface="Consolas" charset="0"/>
                        <a:cs typeface="Consolas" charset="0"/>
                      </a:endParaRPr>
                    </a:p>
                  </a:txBody>
                  <a:tcPr marL="91440" marR="91440" marT="45720" marB="45720" anchor="ctr">
                    <a:lnL w="6350" cap="flat" cmpd="sng" algn="ctr">
                      <a:solidFill>
                        <a:srgbClr val="D0D7E2"/>
                      </a:solidFill>
                      <a:prstDash val="solid"/>
                      <a:round/>
                      <a:headEnd type="none" w="med" len="med"/>
                      <a:tailEnd type="none" w="med" len="med"/>
                    </a:lnL>
                    <a:lnR w="6350" cap="flat" cmpd="sng" algn="ctr">
                      <a:solidFill>
                        <a:srgbClr val="D0D7E2"/>
                      </a:solidFill>
                      <a:prstDash val="solid"/>
                      <a:round/>
                      <a:headEnd type="none" w="med" len="med"/>
                      <a:tailEnd type="none" w="med" len="med"/>
                    </a:lnR>
                    <a:lnT w="6350" cap="flat" cmpd="sng" algn="ctr">
                      <a:solidFill>
                        <a:srgbClr val="D0D7E2"/>
                      </a:solidFill>
                      <a:prstDash val="solid"/>
                      <a:round/>
                      <a:headEnd type="none" w="med" len="med"/>
                      <a:tailEnd type="none" w="med" len="med"/>
                    </a:lnT>
                    <a:lnB w="6350" cap="flat" cmpd="sng" algn="ctr">
                      <a:solidFill>
                        <a:srgbClr val="D0D7E2"/>
                      </a:solidFill>
                      <a:prstDash val="solid"/>
                      <a:round/>
                      <a:headEnd type="none" w="med" len="med"/>
                      <a:tailEnd type="none" w="med" len="med"/>
                    </a:lnB>
                    <a:solidFill>
                      <a:srgbClr val="FFFFFF"/>
                    </a:solidFill>
                  </a:tcPr>
                </a:tc>
                <a:tc>
                  <a:txBody>
                    <a:bodyPr/>
                    <a:lstStyle/>
                    <a:p>
                      <a:pPr indent="0" marL="0">
                        <a:buNone/>
                      </a:pPr>
                      <a:r>
                        <a:rPr lang="en-US" sz="1100" dirty="0">
                          <a:solidFill>
                            <a:srgbClr val="0B1F33"/>
                          </a:solidFill>
                          <a:latin typeface="Consolas" pitchFamily="34" charset="0"/>
                          <a:ea typeface="Consolas" pitchFamily="34" charset="-122"/>
                          <a:cs typeface="Consolas" pitchFamily="34" charset="-120"/>
                        </a:rPr>
                        <a:t>0.003</a:t>
                      </a:r>
                      <a:endParaRPr lang="en-US" sz="1100" dirty="0">
                        <a:latin typeface="Consolas" charset="0"/>
                        <a:ea typeface="Consolas" charset="0"/>
                        <a:cs typeface="Consolas" charset="0"/>
                      </a:endParaRPr>
                    </a:p>
                  </a:txBody>
                  <a:tcPr marL="91440" marR="91440" marT="45720" marB="45720" anchor="ctr">
                    <a:lnL w="6350" cap="flat" cmpd="sng" algn="ctr">
                      <a:solidFill>
                        <a:srgbClr val="D0D7E2"/>
                      </a:solidFill>
                      <a:prstDash val="solid"/>
                      <a:round/>
                      <a:headEnd type="none" w="med" len="med"/>
                      <a:tailEnd type="none" w="med" len="med"/>
                    </a:lnL>
                    <a:lnR w="6350" cap="flat" cmpd="sng" algn="ctr">
                      <a:solidFill>
                        <a:srgbClr val="D0D7E2"/>
                      </a:solidFill>
                      <a:prstDash val="solid"/>
                      <a:round/>
                      <a:headEnd type="none" w="med" len="med"/>
                      <a:tailEnd type="none" w="med" len="med"/>
                    </a:lnR>
                    <a:lnT w="6350" cap="flat" cmpd="sng" algn="ctr">
                      <a:solidFill>
                        <a:srgbClr val="D0D7E2"/>
                      </a:solidFill>
                      <a:prstDash val="solid"/>
                      <a:round/>
                      <a:headEnd type="none" w="med" len="med"/>
                      <a:tailEnd type="none" w="med" len="med"/>
                    </a:lnT>
                    <a:lnB w="6350" cap="flat" cmpd="sng" algn="ctr">
                      <a:solidFill>
                        <a:srgbClr val="D0D7E2"/>
                      </a:solidFill>
                      <a:prstDash val="solid"/>
                      <a:round/>
                      <a:headEnd type="none" w="med" len="med"/>
                      <a:tailEnd type="none" w="med" len="med"/>
                    </a:lnB>
                    <a:solidFill>
                      <a:srgbClr val="FFFFFF"/>
                    </a:solidFill>
                  </a:tcPr>
                </a:tc>
                <a:tc>
                  <a:txBody>
                    <a:bodyPr/>
                    <a:lstStyle/>
                    <a:p>
                      <a:pPr indent="0" marL="0">
                        <a:buNone/>
                      </a:pPr>
                      <a:r>
                        <a:rPr lang="en-US" sz="1100" dirty="0">
                          <a:solidFill>
                            <a:srgbClr val="0B1F33"/>
                          </a:solidFill>
                          <a:latin typeface="Consolas" pitchFamily="34" charset="0"/>
                          <a:ea typeface="Consolas" pitchFamily="34" charset="-122"/>
                          <a:cs typeface="Consolas" pitchFamily="34" charset="-120"/>
                        </a:rPr>
                        <a:t>possible_outage</a:t>
                      </a:r>
                      <a:endParaRPr lang="en-US" sz="1100" dirty="0">
                        <a:latin typeface="Consolas" charset="0"/>
                        <a:ea typeface="Consolas" charset="0"/>
                        <a:cs typeface="Consolas" charset="0"/>
                      </a:endParaRPr>
                    </a:p>
                  </a:txBody>
                  <a:tcPr marL="91440" marR="91440" marT="45720" marB="45720" anchor="ctr">
                    <a:lnL w="6350" cap="flat" cmpd="sng" algn="ctr">
                      <a:solidFill>
                        <a:srgbClr val="D0D7E2"/>
                      </a:solidFill>
                      <a:prstDash val="solid"/>
                      <a:round/>
                      <a:headEnd type="none" w="med" len="med"/>
                      <a:tailEnd type="none" w="med" len="med"/>
                    </a:lnL>
                    <a:lnR w="6350" cap="flat" cmpd="sng" algn="ctr">
                      <a:solidFill>
                        <a:srgbClr val="D0D7E2"/>
                      </a:solidFill>
                      <a:prstDash val="solid"/>
                      <a:round/>
                      <a:headEnd type="none" w="med" len="med"/>
                      <a:tailEnd type="none" w="med" len="med"/>
                    </a:lnR>
                    <a:lnT w="6350" cap="flat" cmpd="sng" algn="ctr">
                      <a:solidFill>
                        <a:srgbClr val="D0D7E2"/>
                      </a:solidFill>
                      <a:prstDash val="solid"/>
                      <a:round/>
                      <a:headEnd type="none" w="med" len="med"/>
                      <a:tailEnd type="none" w="med" len="med"/>
                    </a:lnT>
                    <a:lnB w="6350" cap="flat" cmpd="sng" algn="ctr">
                      <a:solidFill>
                        <a:srgbClr val="D0D7E2"/>
                      </a:solidFill>
                      <a:prstDash val="solid"/>
                      <a:round/>
                      <a:headEnd type="none" w="med" len="med"/>
                      <a:tailEnd type="none" w="med" len="med"/>
                    </a:lnB>
                    <a:solidFill>
                      <a:srgbClr val="FFFFFF"/>
                    </a:solidFill>
                  </a:tcPr>
                </a:tc>
              </a:tr>
              <a:tr h="384048">
                <a:tc>
                  <a:txBody>
                    <a:bodyPr/>
                    <a:lstStyle/>
                    <a:p>
                      <a:pPr indent="0" marL="0">
                        <a:buNone/>
                      </a:pPr>
                      <a:r>
                        <a:rPr lang="en-US" sz="1100" dirty="0">
                          <a:solidFill>
                            <a:srgbClr val="0B1F33"/>
                          </a:solidFill>
                          <a:latin typeface="Consolas" pitchFamily="34" charset="0"/>
                          <a:ea typeface="Consolas" pitchFamily="34" charset="-122"/>
                          <a:cs typeface="Consolas" pitchFamily="34" charset="-120"/>
                        </a:rPr>
                        <a:t>check_outage_status</a:t>
                      </a:r>
                      <a:endParaRPr lang="en-US" sz="1100" dirty="0">
                        <a:latin typeface="Consolas" charset="0"/>
                        <a:ea typeface="Consolas" charset="0"/>
                        <a:cs typeface="Consolas" charset="0"/>
                      </a:endParaRPr>
                    </a:p>
                  </a:txBody>
                  <a:tcPr marL="91440" marR="91440" marT="45720" marB="45720" anchor="ctr">
                    <a:lnL w="6350" cap="flat" cmpd="sng" algn="ctr">
                      <a:solidFill>
                        <a:srgbClr val="D0D7E2"/>
                      </a:solidFill>
                      <a:prstDash val="solid"/>
                      <a:round/>
                      <a:headEnd type="none" w="med" len="med"/>
                      <a:tailEnd type="none" w="med" len="med"/>
                    </a:lnL>
                    <a:lnR w="6350" cap="flat" cmpd="sng" algn="ctr">
                      <a:solidFill>
                        <a:srgbClr val="D0D7E2"/>
                      </a:solidFill>
                      <a:prstDash val="solid"/>
                      <a:round/>
                      <a:headEnd type="none" w="med" len="med"/>
                      <a:tailEnd type="none" w="med" len="med"/>
                    </a:lnR>
                    <a:lnT w="6350" cap="flat" cmpd="sng" algn="ctr">
                      <a:solidFill>
                        <a:srgbClr val="D0D7E2"/>
                      </a:solidFill>
                      <a:prstDash val="solid"/>
                      <a:round/>
                      <a:headEnd type="none" w="med" len="med"/>
                      <a:tailEnd type="none" w="med" len="med"/>
                    </a:lnT>
                    <a:lnB w="6350" cap="flat" cmpd="sng" algn="ctr">
                      <a:solidFill>
                        <a:srgbClr val="D0D7E2"/>
                      </a:solidFill>
                      <a:prstDash val="solid"/>
                      <a:round/>
                      <a:headEnd type="none" w="med" len="med"/>
                      <a:tailEnd type="none" w="med" len="med"/>
                    </a:lnB>
                    <a:solidFill>
                      <a:srgbClr val="EEF3F8"/>
                    </a:solidFill>
                  </a:tcPr>
                </a:tc>
                <a:tc>
                  <a:txBody>
                    <a:bodyPr/>
                    <a:lstStyle/>
                    <a:p>
                      <a:pPr indent="0" marL="0">
                        <a:buNone/>
                      </a:pPr>
                      <a:r>
                        <a:rPr lang="en-US" sz="1100" dirty="0">
                          <a:solidFill>
                            <a:srgbClr val="0B1F33"/>
                          </a:solidFill>
                          <a:latin typeface="Consolas" pitchFamily="34" charset="0"/>
                          <a:ea typeface="Consolas" pitchFamily="34" charset="-122"/>
                          <a:cs typeface="Consolas" pitchFamily="34" charset="-120"/>
                        </a:rPr>
                        <a:t>0.015</a:t>
                      </a:r>
                      <a:endParaRPr lang="en-US" sz="1100" dirty="0">
                        <a:latin typeface="Consolas" charset="0"/>
                        <a:ea typeface="Consolas" charset="0"/>
                        <a:cs typeface="Consolas" charset="0"/>
                      </a:endParaRPr>
                    </a:p>
                  </a:txBody>
                  <a:tcPr marL="91440" marR="91440" marT="45720" marB="45720" anchor="ctr">
                    <a:lnL w="6350" cap="flat" cmpd="sng" algn="ctr">
                      <a:solidFill>
                        <a:srgbClr val="D0D7E2"/>
                      </a:solidFill>
                      <a:prstDash val="solid"/>
                      <a:round/>
                      <a:headEnd type="none" w="med" len="med"/>
                      <a:tailEnd type="none" w="med" len="med"/>
                    </a:lnL>
                    <a:lnR w="6350" cap="flat" cmpd="sng" algn="ctr">
                      <a:solidFill>
                        <a:srgbClr val="D0D7E2"/>
                      </a:solidFill>
                      <a:prstDash val="solid"/>
                      <a:round/>
                      <a:headEnd type="none" w="med" len="med"/>
                      <a:tailEnd type="none" w="med" len="med"/>
                    </a:lnR>
                    <a:lnT w="6350" cap="flat" cmpd="sng" algn="ctr">
                      <a:solidFill>
                        <a:srgbClr val="D0D7E2"/>
                      </a:solidFill>
                      <a:prstDash val="solid"/>
                      <a:round/>
                      <a:headEnd type="none" w="med" len="med"/>
                      <a:tailEnd type="none" w="med" len="med"/>
                    </a:lnT>
                    <a:lnB w="6350" cap="flat" cmpd="sng" algn="ctr">
                      <a:solidFill>
                        <a:srgbClr val="D0D7E2"/>
                      </a:solidFill>
                      <a:prstDash val="solid"/>
                      <a:round/>
                      <a:headEnd type="none" w="med" len="med"/>
                      <a:tailEnd type="none" w="med" len="med"/>
                    </a:lnB>
                    <a:solidFill>
                      <a:srgbClr val="EEF3F8"/>
                    </a:solidFill>
                  </a:tcPr>
                </a:tc>
                <a:tc>
                  <a:txBody>
                    <a:bodyPr/>
                    <a:lstStyle/>
                    <a:p>
                      <a:pPr indent="0" marL="0">
                        <a:buNone/>
                      </a:pPr>
                      <a:r>
                        <a:rPr lang="en-US" sz="1100" dirty="0">
                          <a:solidFill>
                            <a:srgbClr val="0B1F33"/>
                          </a:solidFill>
                          <a:latin typeface="Consolas" pitchFamily="34" charset="0"/>
                          <a:ea typeface="Consolas" pitchFamily="34" charset="-122"/>
                          <a:cs typeface="Consolas" pitchFamily="34" charset="-120"/>
                        </a:rPr>
                        <a:t>error: unavailable</a:t>
                      </a:r>
                      <a:endParaRPr lang="en-US" sz="1100" dirty="0">
                        <a:latin typeface="Consolas" charset="0"/>
                        <a:ea typeface="Consolas" charset="0"/>
                        <a:cs typeface="Consolas" charset="0"/>
                      </a:endParaRPr>
                    </a:p>
                  </a:txBody>
                  <a:tcPr marL="91440" marR="91440" marT="45720" marB="45720" anchor="ctr">
                    <a:lnL w="6350" cap="flat" cmpd="sng" algn="ctr">
                      <a:solidFill>
                        <a:srgbClr val="D0D7E2"/>
                      </a:solidFill>
                      <a:prstDash val="solid"/>
                      <a:round/>
                      <a:headEnd type="none" w="med" len="med"/>
                      <a:tailEnd type="none" w="med" len="med"/>
                    </a:lnL>
                    <a:lnR w="6350" cap="flat" cmpd="sng" algn="ctr">
                      <a:solidFill>
                        <a:srgbClr val="D0D7E2"/>
                      </a:solidFill>
                      <a:prstDash val="solid"/>
                      <a:round/>
                      <a:headEnd type="none" w="med" len="med"/>
                      <a:tailEnd type="none" w="med" len="med"/>
                    </a:lnR>
                    <a:lnT w="6350" cap="flat" cmpd="sng" algn="ctr">
                      <a:solidFill>
                        <a:srgbClr val="D0D7E2"/>
                      </a:solidFill>
                      <a:prstDash val="solid"/>
                      <a:round/>
                      <a:headEnd type="none" w="med" len="med"/>
                      <a:tailEnd type="none" w="med" len="med"/>
                    </a:lnT>
                    <a:lnB w="6350" cap="flat" cmpd="sng" algn="ctr">
                      <a:solidFill>
                        <a:srgbClr val="D0D7E2"/>
                      </a:solidFill>
                      <a:prstDash val="solid"/>
                      <a:round/>
                      <a:headEnd type="none" w="med" len="med"/>
                      <a:tailEnd type="none" w="med" len="med"/>
                    </a:lnB>
                    <a:solidFill>
                      <a:srgbClr val="EEF3F8"/>
                    </a:solidFill>
                  </a:tcPr>
                </a:tc>
              </a:tr>
              <a:tr h="384048">
                <a:tc>
                  <a:txBody>
                    <a:bodyPr/>
                    <a:lstStyle/>
                    <a:p>
                      <a:pPr indent="0" marL="0">
                        <a:buNone/>
                      </a:pPr>
                      <a:r>
                        <a:rPr lang="en-US" sz="1100" dirty="0">
                          <a:solidFill>
                            <a:srgbClr val="0B1F33"/>
                          </a:solidFill>
                          <a:latin typeface="Consolas" pitchFamily="34" charset="0"/>
                          <a:ea typeface="Consolas" pitchFamily="34" charset="-122"/>
                          <a:cs typeface="Consolas" pitchFamily="34" charset="-120"/>
                        </a:rPr>
                        <a:t>check_outage_status (retry)</a:t>
                      </a:r>
                      <a:endParaRPr lang="en-US" sz="1100" dirty="0">
                        <a:latin typeface="Consolas" charset="0"/>
                        <a:ea typeface="Consolas" charset="0"/>
                        <a:cs typeface="Consolas" charset="0"/>
                      </a:endParaRPr>
                    </a:p>
                  </a:txBody>
                  <a:tcPr marL="91440" marR="91440" marT="45720" marB="45720" anchor="ctr">
                    <a:lnL w="6350" cap="flat" cmpd="sng" algn="ctr">
                      <a:solidFill>
                        <a:srgbClr val="D0D7E2"/>
                      </a:solidFill>
                      <a:prstDash val="solid"/>
                      <a:round/>
                      <a:headEnd type="none" w="med" len="med"/>
                      <a:tailEnd type="none" w="med" len="med"/>
                    </a:lnL>
                    <a:lnR w="6350" cap="flat" cmpd="sng" algn="ctr">
                      <a:solidFill>
                        <a:srgbClr val="D0D7E2"/>
                      </a:solidFill>
                      <a:prstDash val="solid"/>
                      <a:round/>
                      <a:headEnd type="none" w="med" len="med"/>
                      <a:tailEnd type="none" w="med" len="med"/>
                    </a:lnR>
                    <a:lnT w="6350" cap="flat" cmpd="sng" algn="ctr">
                      <a:solidFill>
                        <a:srgbClr val="D0D7E2"/>
                      </a:solidFill>
                      <a:prstDash val="solid"/>
                      <a:round/>
                      <a:headEnd type="none" w="med" len="med"/>
                      <a:tailEnd type="none" w="med" len="med"/>
                    </a:lnT>
                    <a:lnB w="6350" cap="flat" cmpd="sng" algn="ctr">
                      <a:solidFill>
                        <a:srgbClr val="D0D7E2"/>
                      </a:solidFill>
                      <a:prstDash val="solid"/>
                      <a:round/>
                      <a:headEnd type="none" w="med" len="med"/>
                      <a:tailEnd type="none" w="med" len="med"/>
                    </a:lnB>
                    <a:solidFill>
                      <a:srgbClr val="FFFFFF"/>
                    </a:solidFill>
                  </a:tcPr>
                </a:tc>
                <a:tc>
                  <a:txBody>
                    <a:bodyPr/>
                    <a:lstStyle/>
                    <a:p>
                      <a:pPr indent="0" marL="0">
                        <a:buNone/>
                      </a:pPr>
                      <a:r>
                        <a:rPr lang="en-US" sz="1100" dirty="0">
                          <a:solidFill>
                            <a:srgbClr val="0B1F33"/>
                          </a:solidFill>
                          <a:latin typeface="Consolas" pitchFamily="34" charset="0"/>
                          <a:ea typeface="Consolas" pitchFamily="34" charset="-122"/>
                          <a:cs typeface="Consolas" pitchFamily="34" charset="-120"/>
                        </a:rPr>
                        <a:t>0.021</a:t>
                      </a:r>
                      <a:endParaRPr lang="en-US" sz="1100" dirty="0">
                        <a:latin typeface="Consolas" charset="0"/>
                        <a:ea typeface="Consolas" charset="0"/>
                        <a:cs typeface="Consolas" charset="0"/>
                      </a:endParaRPr>
                    </a:p>
                  </a:txBody>
                  <a:tcPr marL="91440" marR="91440" marT="45720" marB="45720" anchor="ctr">
                    <a:lnL w="6350" cap="flat" cmpd="sng" algn="ctr">
                      <a:solidFill>
                        <a:srgbClr val="D0D7E2"/>
                      </a:solidFill>
                      <a:prstDash val="solid"/>
                      <a:round/>
                      <a:headEnd type="none" w="med" len="med"/>
                      <a:tailEnd type="none" w="med" len="med"/>
                    </a:lnL>
                    <a:lnR w="6350" cap="flat" cmpd="sng" algn="ctr">
                      <a:solidFill>
                        <a:srgbClr val="D0D7E2"/>
                      </a:solidFill>
                      <a:prstDash val="solid"/>
                      <a:round/>
                      <a:headEnd type="none" w="med" len="med"/>
                      <a:tailEnd type="none" w="med" len="med"/>
                    </a:lnR>
                    <a:lnT w="6350" cap="flat" cmpd="sng" algn="ctr">
                      <a:solidFill>
                        <a:srgbClr val="D0D7E2"/>
                      </a:solidFill>
                      <a:prstDash val="solid"/>
                      <a:round/>
                      <a:headEnd type="none" w="med" len="med"/>
                      <a:tailEnd type="none" w="med" len="med"/>
                    </a:lnT>
                    <a:lnB w="6350" cap="flat" cmpd="sng" algn="ctr">
                      <a:solidFill>
                        <a:srgbClr val="D0D7E2"/>
                      </a:solidFill>
                      <a:prstDash val="solid"/>
                      <a:round/>
                      <a:headEnd type="none" w="med" len="med"/>
                      <a:tailEnd type="none" w="med" len="med"/>
                    </a:lnB>
                    <a:solidFill>
                      <a:srgbClr val="FFFFFF"/>
                    </a:solidFill>
                  </a:tcPr>
                </a:tc>
                <a:tc>
                  <a:txBody>
                    <a:bodyPr/>
                    <a:lstStyle/>
                    <a:p>
                      <a:pPr indent="0" marL="0">
                        <a:buNone/>
                      </a:pPr>
                      <a:r>
                        <a:rPr lang="en-US" sz="1100" dirty="0">
                          <a:solidFill>
                            <a:srgbClr val="0B1F33"/>
                          </a:solidFill>
                          <a:latin typeface="Consolas" pitchFamily="34" charset="0"/>
                          <a:ea typeface="Consolas" pitchFamily="34" charset="-122"/>
                          <a:cs typeface="Consolas" pitchFamily="34" charset="-120"/>
                        </a:rPr>
                        <a:t>unavailable → budget spent</a:t>
                      </a:r>
                      <a:endParaRPr lang="en-US" sz="1100" dirty="0">
                        <a:latin typeface="Consolas" charset="0"/>
                        <a:ea typeface="Consolas" charset="0"/>
                        <a:cs typeface="Consolas" charset="0"/>
                      </a:endParaRPr>
                    </a:p>
                  </a:txBody>
                  <a:tcPr marL="91440" marR="91440" marT="45720" marB="45720" anchor="ctr">
                    <a:lnL w="6350" cap="flat" cmpd="sng" algn="ctr">
                      <a:solidFill>
                        <a:srgbClr val="D0D7E2"/>
                      </a:solidFill>
                      <a:prstDash val="solid"/>
                      <a:round/>
                      <a:headEnd type="none" w="med" len="med"/>
                      <a:tailEnd type="none" w="med" len="med"/>
                    </a:lnL>
                    <a:lnR w="6350" cap="flat" cmpd="sng" algn="ctr">
                      <a:solidFill>
                        <a:srgbClr val="D0D7E2"/>
                      </a:solidFill>
                      <a:prstDash val="solid"/>
                      <a:round/>
                      <a:headEnd type="none" w="med" len="med"/>
                      <a:tailEnd type="none" w="med" len="med"/>
                    </a:lnR>
                    <a:lnT w="6350" cap="flat" cmpd="sng" algn="ctr">
                      <a:solidFill>
                        <a:srgbClr val="D0D7E2"/>
                      </a:solidFill>
                      <a:prstDash val="solid"/>
                      <a:round/>
                      <a:headEnd type="none" w="med" len="med"/>
                      <a:tailEnd type="none" w="med" len="med"/>
                    </a:lnT>
                    <a:lnB w="6350" cap="flat" cmpd="sng" algn="ctr">
                      <a:solidFill>
                        <a:srgbClr val="D0D7E2"/>
                      </a:solidFill>
                      <a:prstDash val="solid"/>
                      <a:round/>
                      <a:headEnd type="none" w="med" len="med"/>
                      <a:tailEnd type="none" w="med" len="med"/>
                    </a:lnB>
                    <a:solidFill>
                      <a:srgbClr val="FFFFFF"/>
                    </a:solidFill>
                  </a:tcPr>
                </a:tc>
              </a:tr>
              <a:tr h="384048">
                <a:tc>
                  <a:txBody>
                    <a:bodyPr/>
                    <a:lstStyle/>
                    <a:p>
                      <a:pPr indent="0" marL="0">
                        <a:buNone/>
                      </a:pPr>
                      <a:r>
                        <a:rPr lang="en-US" sz="1100" dirty="0">
                          <a:solidFill>
                            <a:srgbClr val="0B1F33"/>
                          </a:solidFill>
                          <a:latin typeface="Consolas" pitchFamily="34" charset="0"/>
                          <a:ea typeface="Consolas" pitchFamily="34" charset="-122"/>
                          <a:cs typeface="Consolas" pitchFamily="34" charset="-120"/>
                        </a:rPr>
                        <a:t>retrieve_and_answer</a:t>
                      </a:r>
                      <a:endParaRPr lang="en-US" sz="1100" dirty="0">
                        <a:latin typeface="Consolas" charset="0"/>
                        <a:ea typeface="Consolas" charset="0"/>
                        <a:cs typeface="Consolas" charset="0"/>
                      </a:endParaRPr>
                    </a:p>
                  </a:txBody>
                  <a:tcPr marL="91440" marR="91440" marT="45720" marB="45720" anchor="ctr">
                    <a:lnL w="6350" cap="flat" cmpd="sng" algn="ctr">
                      <a:solidFill>
                        <a:srgbClr val="D0D7E2"/>
                      </a:solidFill>
                      <a:prstDash val="solid"/>
                      <a:round/>
                      <a:headEnd type="none" w="med" len="med"/>
                      <a:tailEnd type="none" w="med" len="med"/>
                    </a:lnL>
                    <a:lnR w="6350" cap="flat" cmpd="sng" algn="ctr">
                      <a:solidFill>
                        <a:srgbClr val="D0D7E2"/>
                      </a:solidFill>
                      <a:prstDash val="solid"/>
                      <a:round/>
                      <a:headEnd type="none" w="med" len="med"/>
                      <a:tailEnd type="none" w="med" len="med"/>
                    </a:lnR>
                    <a:lnT w="6350" cap="flat" cmpd="sng" algn="ctr">
                      <a:solidFill>
                        <a:srgbClr val="D0D7E2"/>
                      </a:solidFill>
                      <a:prstDash val="solid"/>
                      <a:round/>
                      <a:headEnd type="none" w="med" len="med"/>
                      <a:tailEnd type="none" w="med" len="med"/>
                    </a:lnT>
                    <a:lnB w="6350" cap="flat" cmpd="sng" algn="ctr">
                      <a:solidFill>
                        <a:srgbClr val="D0D7E2"/>
                      </a:solidFill>
                      <a:prstDash val="solid"/>
                      <a:round/>
                      <a:headEnd type="none" w="med" len="med"/>
                      <a:tailEnd type="none" w="med" len="med"/>
                    </a:lnB>
                    <a:solidFill>
                      <a:srgbClr val="EEF3F8"/>
                    </a:solidFill>
                  </a:tcPr>
                </a:tc>
                <a:tc>
                  <a:txBody>
                    <a:bodyPr/>
                    <a:lstStyle/>
                    <a:p>
                      <a:pPr indent="0" marL="0">
                        <a:buNone/>
                      </a:pPr>
                      <a:r>
                        <a:rPr lang="en-US" sz="1100" dirty="0">
                          <a:solidFill>
                            <a:srgbClr val="0B1F33"/>
                          </a:solidFill>
                          <a:latin typeface="Consolas" pitchFamily="34" charset="0"/>
                          <a:ea typeface="Consolas" pitchFamily="34" charset="-122"/>
                          <a:cs typeface="Consolas" pitchFamily="34" charset="-120"/>
                        </a:rPr>
                        <a:t>0.778</a:t>
                      </a:r>
                      <a:endParaRPr lang="en-US" sz="1100" dirty="0">
                        <a:latin typeface="Consolas" charset="0"/>
                        <a:ea typeface="Consolas" charset="0"/>
                        <a:cs typeface="Consolas" charset="0"/>
                      </a:endParaRPr>
                    </a:p>
                  </a:txBody>
                  <a:tcPr marL="91440" marR="91440" marT="45720" marB="45720" anchor="ctr">
                    <a:lnL w="6350" cap="flat" cmpd="sng" algn="ctr">
                      <a:solidFill>
                        <a:srgbClr val="D0D7E2"/>
                      </a:solidFill>
                      <a:prstDash val="solid"/>
                      <a:round/>
                      <a:headEnd type="none" w="med" len="med"/>
                      <a:tailEnd type="none" w="med" len="med"/>
                    </a:lnL>
                    <a:lnR w="6350" cap="flat" cmpd="sng" algn="ctr">
                      <a:solidFill>
                        <a:srgbClr val="D0D7E2"/>
                      </a:solidFill>
                      <a:prstDash val="solid"/>
                      <a:round/>
                      <a:headEnd type="none" w="med" len="med"/>
                      <a:tailEnd type="none" w="med" len="med"/>
                    </a:lnR>
                    <a:lnT w="6350" cap="flat" cmpd="sng" algn="ctr">
                      <a:solidFill>
                        <a:srgbClr val="D0D7E2"/>
                      </a:solidFill>
                      <a:prstDash val="solid"/>
                      <a:round/>
                      <a:headEnd type="none" w="med" len="med"/>
                      <a:tailEnd type="none" w="med" len="med"/>
                    </a:lnT>
                    <a:lnB w="6350" cap="flat" cmpd="sng" algn="ctr">
                      <a:solidFill>
                        <a:srgbClr val="D0D7E2"/>
                      </a:solidFill>
                      <a:prstDash val="solid"/>
                      <a:round/>
                      <a:headEnd type="none" w="med" len="med"/>
                      <a:tailEnd type="none" w="med" len="med"/>
                    </a:lnB>
                    <a:solidFill>
                      <a:srgbClr val="EEF3F8"/>
                    </a:solidFill>
                  </a:tcPr>
                </a:tc>
                <a:tc>
                  <a:txBody>
                    <a:bodyPr/>
                    <a:lstStyle/>
                    <a:p>
                      <a:pPr indent="0" marL="0">
                        <a:buNone/>
                      </a:pPr>
                      <a:r>
                        <a:rPr lang="en-US" sz="1100" dirty="0">
                          <a:solidFill>
                            <a:srgbClr val="0B1F33"/>
                          </a:solidFill>
                          <a:latin typeface="Consolas" pitchFamily="34" charset="0"/>
                          <a:ea typeface="Consolas" pitchFamily="34" charset="-122"/>
                          <a:cs typeface="Consolas" pitchFamily="34" charset="-120"/>
                        </a:rPr>
                        <a:t>doc13 (0.237) clears 0.15</a:t>
                      </a:r>
                      <a:endParaRPr lang="en-US" sz="1100" dirty="0">
                        <a:latin typeface="Consolas" charset="0"/>
                        <a:ea typeface="Consolas" charset="0"/>
                        <a:cs typeface="Consolas" charset="0"/>
                      </a:endParaRPr>
                    </a:p>
                  </a:txBody>
                  <a:tcPr marL="91440" marR="91440" marT="45720" marB="45720" anchor="ctr">
                    <a:lnL w="6350" cap="flat" cmpd="sng" algn="ctr">
                      <a:solidFill>
                        <a:srgbClr val="D0D7E2"/>
                      </a:solidFill>
                      <a:prstDash val="solid"/>
                      <a:round/>
                      <a:headEnd type="none" w="med" len="med"/>
                      <a:tailEnd type="none" w="med" len="med"/>
                    </a:lnL>
                    <a:lnR w="6350" cap="flat" cmpd="sng" algn="ctr">
                      <a:solidFill>
                        <a:srgbClr val="D0D7E2"/>
                      </a:solidFill>
                      <a:prstDash val="solid"/>
                      <a:round/>
                      <a:headEnd type="none" w="med" len="med"/>
                      <a:tailEnd type="none" w="med" len="med"/>
                    </a:lnR>
                    <a:lnT w="6350" cap="flat" cmpd="sng" algn="ctr">
                      <a:solidFill>
                        <a:srgbClr val="D0D7E2"/>
                      </a:solidFill>
                      <a:prstDash val="solid"/>
                      <a:round/>
                      <a:headEnd type="none" w="med" len="med"/>
                      <a:tailEnd type="none" w="med" len="med"/>
                    </a:lnT>
                    <a:lnB w="6350" cap="flat" cmpd="sng" algn="ctr">
                      <a:solidFill>
                        <a:srgbClr val="D0D7E2"/>
                      </a:solidFill>
                      <a:prstDash val="solid"/>
                      <a:round/>
                      <a:headEnd type="none" w="med" len="med"/>
                      <a:tailEnd type="none" w="med" len="med"/>
                    </a:lnB>
                    <a:solidFill>
                      <a:srgbClr val="EEF3F8"/>
                    </a:solidFill>
                  </a:tcPr>
                </a:tc>
              </a:tr>
              <a:tr h="384048">
                <a:tc>
                  <a:txBody>
                    <a:bodyPr/>
                    <a:lstStyle/>
                    <a:p>
                      <a:pPr indent="0" marL="0">
                        <a:buNone/>
                      </a:pPr>
                      <a:r>
                        <a:rPr lang="en-US" sz="1100" dirty="0">
                          <a:solidFill>
                            <a:srgbClr val="0B1F33"/>
                          </a:solidFill>
                          <a:latin typeface="Consolas" pitchFamily="34" charset="0"/>
                          <a:ea typeface="Consolas" pitchFamily="34" charset="-122"/>
                          <a:cs typeface="Consolas" pitchFamily="34" charset="-120"/>
                        </a:rPr>
                        <a:t>stop_resolved</a:t>
                      </a:r>
                      <a:endParaRPr lang="en-US" sz="1100" dirty="0">
                        <a:latin typeface="Consolas" charset="0"/>
                        <a:ea typeface="Consolas" charset="0"/>
                        <a:cs typeface="Consolas" charset="0"/>
                      </a:endParaRPr>
                    </a:p>
                  </a:txBody>
                  <a:tcPr marL="91440" marR="91440" marT="45720" marB="45720" anchor="ctr">
                    <a:lnL w="6350" cap="flat" cmpd="sng" algn="ctr">
                      <a:solidFill>
                        <a:srgbClr val="D0D7E2"/>
                      </a:solidFill>
                      <a:prstDash val="solid"/>
                      <a:round/>
                      <a:headEnd type="none" w="med" len="med"/>
                      <a:tailEnd type="none" w="med" len="med"/>
                    </a:lnL>
                    <a:lnR w="6350" cap="flat" cmpd="sng" algn="ctr">
                      <a:solidFill>
                        <a:srgbClr val="D0D7E2"/>
                      </a:solidFill>
                      <a:prstDash val="solid"/>
                      <a:round/>
                      <a:headEnd type="none" w="med" len="med"/>
                      <a:tailEnd type="none" w="med" len="med"/>
                    </a:lnR>
                    <a:lnT w="6350" cap="flat" cmpd="sng" algn="ctr">
                      <a:solidFill>
                        <a:srgbClr val="D0D7E2"/>
                      </a:solidFill>
                      <a:prstDash val="solid"/>
                      <a:round/>
                      <a:headEnd type="none" w="med" len="med"/>
                      <a:tailEnd type="none" w="med" len="med"/>
                    </a:lnT>
                    <a:lnB w="6350" cap="flat" cmpd="sng" algn="ctr">
                      <a:solidFill>
                        <a:srgbClr val="D0D7E2"/>
                      </a:solidFill>
                      <a:prstDash val="solid"/>
                      <a:round/>
                      <a:headEnd type="none" w="med" len="med"/>
                      <a:tailEnd type="none" w="med" len="med"/>
                    </a:lnB>
                    <a:solidFill>
                      <a:srgbClr val="FFFFFF"/>
                    </a:solidFill>
                  </a:tcPr>
                </a:tc>
                <a:tc>
                  <a:txBody>
                    <a:bodyPr/>
                    <a:lstStyle/>
                    <a:p>
                      <a:pPr indent="0" marL="0">
                        <a:buNone/>
                      </a:pPr>
                      <a:r>
                        <a:rPr lang="en-US" sz="1100" dirty="0">
                          <a:solidFill>
                            <a:srgbClr val="0B1F33"/>
                          </a:solidFill>
                          <a:latin typeface="Consolas" pitchFamily="34" charset="0"/>
                          <a:ea typeface="Consolas" pitchFamily="34" charset="-122"/>
                          <a:cs typeface="Consolas" pitchFamily="34" charset="-120"/>
                        </a:rPr>
                        <a:t>0.784</a:t>
                      </a:r>
                      <a:endParaRPr lang="en-US" sz="1100" dirty="0">
                        <a:latin typeface="Consolas" charset="0"/>
                        <a:ea typeface="Consolas" charset="0"/>
                        <a:cs typeface="Consolas" charset="0"/>
                      </a:endParaRPr>
                    </a:p>
                  </a:txBody>
                  <a:tcPr marL="91440" marR="91440" marT="45720" marB="45720" anchor="ctr">
                    <a:lnL w="6350" cap="flat" cmpd="sng" algn="ctr">
                      <a:solidFill>
                        <a:srgbClr val="D0D7E2"/>
                      </a:solidFill>
                      <a:prstDash val="solid"/>
                      <a:round/>
                      <a:headEnd type="none" w="med" len="med"/>
                      <a:tailEnd type="none" w="med" len="med"/>
                    </a:lnL>
                    <a:lnR w="6350" cap="flat" cmpd="sng" algn="ctr">
                      <a:solidFill>
                        <a:srgbClr val="D0D7E2"/>
                      </a:solidFill>
                      <a:prstDash val="solid"/>
                      <a:round/>
                      <a:headEnd type="none" w="med" len="med"/>
                      <a:tailEnd type="none" w="med" len="med"/>
                    </a:lnR>
                    <a:lnT w="6350" cap="flat" cmpd="sng" algn="ctr">
                      <a:solidFill>
                        <a:srgbClr val="D0D7E2"/>
                      </a:solidFill>
                      <a:prstDash val="solid"/>
                      <a:round/>
                      <a:headEnd type="none" w="med" len="med"/>
                      <a:tailEnd type="none" w="med" len="med"/>
                    </a:lnT>
                    <a:lnB w="6350" cap="flat" cmpd="sng" algn="ctr">
                      <a:solidFill>
                        <a:srgbClr val="D0D7E2"/>
                      </a:solidFill>
                      <a:prstDash val="solid"/>
                      <a:round/>
                      <a:headEnd type="none" w="med" len="med"/>
                      <a:tailEnd type="none" w="med" len="med"/>
                    </a:lnB>
                    <a:solidFill>
                      <a:srgbClr val="FFFFFF"/>
                    </a:solidFill>
                  </a:tcPr>
                </a:tc>
                <a:tc>
                  <a:txBody>
                    <a:bodyPr/>
                    <a:lstStyle/>
                    <a:p>
                      <a:pPr indent="0" marL="0">
                        <a:buNone/>
                      </a:pPr>
                      <a:r>
                        <a:rPr lang="en-US" sz="1100" dirty="0">
                          <a:solidFill>
                            <a:srgbClr val="0B1F33"/>
                          </a:solidFill>
                          <a:latin typeface="Consolas" pitchFamily="34" charset="0"/>
                          <a:ea typeface="Consolas" pitchFamily="34" charset="-122"/>
                          <a:cs typeface="Consolas" pitchFamily="34" charset="-120"/>
                        </a:rPr>
                        <a:t>reply discloses the failed check</a:t>
                      </a:r>
                      <a:endParaRPr lang="en-US" sz="1100" dirty="0">
                        <a:latin typeface="Consolas" charset="0"/>
                        <a:ea typeface="Consolas" charset="0"/>
                        <a:cs typeface="Consolas" charset="0"/>
                      </a:endParaRPr>
                    </a:p>
                  </a:txBody>
                  <a:tcPr marL="91440" marR="91440" marT="45720" marB="45720" anchor="ctr">
                    <a:lnL w="6350" cap="flat" cmpd="sng" algn="ctr">
                      <a:solidFill>
                        <a:srgbClr val="D0D7E2"/>
                      </a:solidFill>
                      <a:prstDash val="solid"/>
                      <a:round/>
                      <a:headEnd type="none" w="med" len="med"/>
                      <a:tailEnd type="none" w="med" len="med"/>
                    </a:lnL>
                    <a:lnR w="6350" cap="flat" cmpd="sng" algn="ctr">
                      <a:solidFill>
                        <a:srgbClr val="D0D7E2"/>
                      </a:solidFill>
                      <a:prstDash val="solid"/>
                      <a:round/>
                      <a:headEnd type="none" w="med" len="med"/>
                      <a:tailEnd type="none" w="med" len="med"/>
                    </a:lnR>
                    <a:lnT w="6350" cap="flat" cmpd="sng" algn="ctr">
                      <a:solidFill>
                        <a:srgbClr val="D0D7E2"/>
                      </a:solidFill>
                      <a:prstDash val="solid"/>
                      <a:round/>
                      <a:headEnd type="none" w="med" len="med"/>
                      <a:tailEnd type="none" w="med" len="med"/>
                    </a:lnT>
                    <a:lnB w="6350" cap="flat" cmpd="sng" algn="ctr">
                      <a:solidFill>
                        <a:srgbClr val="D0D7E2"/>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502920" y="3611880"/>
            <a:ext cx="5394960" cy="274320"/>
          </a:xfrm>
          <a:prstGeom prst="rect">
            <a:avLst/>
          </a:prstGeom>
          <a:noFill/>
          <a:ln/>
        </p:spPr>
        <p:txBody>
          <a:bodyPr wrap="square" lIns="0" tIns="0" rIns="0" bIns="0" rtlCol="0" anchor="ctr"/>
          <a:lstStyle/>
          <a:p>
            <a:pPr indent="0" marL="0">
              <a:buNone/>
            </a:pPr>
            <a:r>
              <a:rPr lang="en-US" sz="1100" i="1" dirty="0">
                <a:solidFill>
                  <a:srgbClr val="4A5568"/>
                </a:solidFill>
                <a:latin typeface="Calibri" pitchFamily="34" charset="0"/>
                <a:ea typeface="Calibri" pitchFamily="34" charset="-122"/>
                <a:cs typeface="Calibri" pitchFamily="34" charset="-120"/>
              </a:rPr>
              <a:t>Scenario T01: outage service down</a:t>
            </a:r>
            <a:endParaRPr lang="en-US" sz="1100" dirty="0"/>
          </a:p>
        </p:txBody>
      </p:sp>
      <p:sp>
        <p:nvSpPr>
          <p:cNvPr id="5" name="trace-card-0"/>
          <p:cNvSpPr/>
          <p:nvPr/>
        </p:nvSpPr>
        <p:spPr>
          <a:xfrm>
            <a:off x="6172200" y="1188720"/>
            <a:ext cx="2560320" cy="1005840"/>
          </a:xfrm>
          <a:prstGeom prst="roundRect">
            <a:avLst>
              <a:gd name="adj" fmla="val 7273"/>
            </a:avLst>
          </a:prstGeom>
          <a:solidFill>
            <a:schemeClr val="bg2"/>
          </a:solidFill>
          <a:ln w="12700">
            <a:solidFill>
              <a:schemeClr val="bg2"/>
            </a:solidFill>
            <a:prstDash val="solid"/>
          </a:ln>
        </p:spPr>
      </p:sp>
      <p:sp>
        <p:nvSpPr>
          <p:cNvPr id="6" name="Text 3"/>
          <p:cNvSpPr txBox="1"/>
          <p:nvPr/>
        </p:nvSpPr>
        <p:spPr>
          <a:xfrm>
            <a:off x="6327648" y="1280160"/>
            <a:ext cx="2286000" cy="274320"/>
          </a:xfrm>
          <a:prstGeom prst="rect">
            <a:avLst/>
          </a:prstGeom>
          <a:noFill/>
          <a:ln/>
        </p:spPr>
        <p:txBody>
          <a:bodyPr wrap="square" lIns="0" tIns="0" rIns="0" bIns="0" rtlCol="0" anchor="ctr"/>
          <a:lstStyle/>
          <a:p>
            <a:pPr indent="0" marL="0">
              <a:buNone/>
            </a:pPr>
            <a:r>
              <a:rPr lang="en-US" sz="1300" b="1" dirty="0">
                <a:solidFill>
                  <a:schemeClr val="accent1"/>
                </a:solidFill>
                <a:latin typeface="Calibri" pitchFamily="34" charset="0"/>
                <a:ea typeface="Calibri" pitchFamily="34" charset="-122"/>
                <a:cs typeface="Calibri" pitchFamily="34" charset="-120"/>
              </a:rPr>
              <a:t>1 record per message</a:t>
            </a:r>
            <a:endParaRPr lang="en-US" sz="1300" dirty="0"/>
          </a:p>
        </p:txBody>
      </p:sp>
      <p:sp>
        <p:nvSpPr>
          <p:cNvPr id="7" name="Text 4"/>
          <p:cNvSpPr txBox="1"/>
          <p:nvPr/>
        </p:nvSpPr>
        <p:spPr>
          <a:xfrm>
            <a:off x="6327648" y="1572768"/>
            <a:ext cx="2286000" cy="594360"/>
          </a:xfrm>
          <a:prstGeom prst="rect">
            <a:avLst/>
          </a:prstGeom>
          <a:noFill/>
          <a:ln/>
        </p:spPr>
        <p:txBody>
          <a:bodyPr wrap="square" lIns="0" tIns="0" rIns="0" bIns="0" rtlCol="0" anchor="t"/>
          <a:lstStyle/>
          <a:p>
            <a:pPr indent="0" marL="0">
              <a:buNone/>
            </a:pPr>
            <a:r>
              <a:rPr lang="en-US" sz="1050" dirty="0">
                <a:solidFill>
                  <a:srgbClr val="4A5568"/>
                </a:solidFill>
                <a:latin typeface="Calibri" pitchFamily="34" charset="0"/>
                <a:ea typeface="Calibri" pitchFamily="34" charset="-122"/>
                <a:cs typeface="Calibri" pitchFamily="34" charset="-120"/>
              </a:rPr>
              <a:t>JSONL: components, guardrail events, steps, retrieval scores, tool errors, latency.</a:t>
            </a:r>
            <a:endParaRPr lang="en-US" sz="1050" dirty="0"/>
          </a:p>
        </p:txBody>
      </p:sp>
      <p:sp>
        <p:nvSpPr>
          <p:cNvPr id="8" name="trace-card-1"/>
          <p:cNvSpPr/>
          <p:nvPr/>
        </p:nvSpPr>
        <p:spPr>
          <a:xfrm>
            <a:off x="6172200" y="2331720"/>
            <a:ext cx="2560320" cy="1005840"/>
          </a:xfrm>
          <a:prstGeom prst="roundRect">
            <a:avLst>
              <a:gd name="adj" fmla="val 7273"/>
            </a:avLst>
          </a:prstGeom>
          <a:solidFill>
            <a:schemeClr val="bg2"/>
          </a:solidFill>
          <a:ln w="12700">
            <a:solidFill>
              <a:schemeClr val="bg2"/>
            </a:solidFill>
            <a:prstDash val="solid"/>
          </a:ln>
        </p:spPr>
      </p:sp>
      <p:sp>
        <p:nvSpPr>
          <p:cNvPr id="9" name="Text 6"/>
          <p:cNvSpPr txBox="1"/>
          <p:nvPr/>
        </p:nvSpPr>
        <p:spPr>
          <a:xfrm>
            <a:off x="6327648" y="2423160"/>
            <a:ext cx="2286000" cy="274320"/>
          </a:xfrm>
          <a:prstGeom prst="rect">
            <a:avLst/>
          </a:prstGeom>
          <a:noFill/>
          <a:ln/>
        </p:spPr>
        <p:txBody>
          <a:bodyPr wrap="square" lIns="0" tIns="0" rIns="0" bIns="0" rtlCol="0" anchor="ctr"/>
          <a:lstStyle/>
          <a:p>
            <a:pPr indent="0" marL="0">
              <a:buNone/>
            </a:pPr>
            <a:r>
              <a:rPr lang="en-US" sz="1300" b="1" dirty="0">
                <a:solidFill>
                  <a:schemeClr val="accent1"/>
                </a:solidFill>
                <a:latin typeface="Calibri" pitchFamily="34" charset="0"/>
                <a:ea typeface="Calibri" pitchFamily="34" charset="-122"/>
                <a:cs typeface="Calibri" pitchFamily="34" charset="-120"/>
              </a:rPr>
              <a:t>No raw text logged</a:t>
            </a:r>
            <a:endParaRPr lang="en-US" sz="1300" dirty="0"/>
          </a:p>
        </p:txBody>
      </p:sp>
      <p:sp>
        <p:nvSpPr>
          <p:cNvPr id="10" name="Text 7"/>
          <p:cNvSpPr txBox="1"/>
          <p:nvPr/>
        </p:nvSpPr>
        <p:spPr>
          <a:xfrm>
            <a:off x="6327648" y="2715768"/>
            <a:ext cx="2286000" cy="594360"/>
          </a:xfrm>
          <a:prstGeom prst="rect">
            <a:avLst/>
          </a:prstGeom>
          <a:noFill/>
          <a:ln/>
        </p:spPr>
        <p:txBody>
          <a:bodyPr wrap="square" lIns="0" tIns="0" rIns="0" bIns="0" rtlCol="0" anchor="t"/>
          <a:lstStyle/>
          <a:p>
            <a:pPr indent="0" marL="0">
              <a:buNone/>
            </a:pPr>
            <a:r>
              <a:rPr lang="en-US" sz="1050" dirty="0">
                <a:solidFill>
                  <a:srgbClr val="4A5568"/>
                </a:solidFill>
                <a:latin typeface="Calibri" pitchFamily="34" charset="0"/>
                <a:ea typeface="Calibri" pitchFamily="34" charset="-122"/>
                <a:cs typeface="Calibri" pitchFamily="34" charset="-120"/>
              </a:rPr>
              <a:t>Only a fingerprint and length, so traces are safe to keep and share.</a:t>
            </a:r>
            <a:endParaRPr lang="en-US" sz="1050" dirty="0"/>
          </a:p>
        </p:txBody>
      </p:sp>
      <p:sp>
        <p:nvSpPr>
          <p:cNvPr id="11" name="trace-card-2"/>
          <p:cNvSpPr/>
          <p:nvPr/>
        </p:nvSpPr>
        <p:spPr>
          <a:xfrm>
            <a:off x="6172200" y="3474720"/>
            <a:ext cx="2560320" cy="1005840"/>
          </a:xfrm>
          <a:prstGeom prst="roundRect">
            <a:avLst>
              <a:gd name="adj" fmla="val 7273"/>
            </a:avLst>
          </a:prstGeom>
          <a:solidFill>
            <a:schemeClr val="bg2"/>
          </a:solidFill>
          <a:ln w="12700">
            <a:solidFill>
              <a:schemeClr val="bg2"/>
            </a:solidFill>
            <a:prstDash val="solid"/>
          </a:ln>
        </p:spPr>
      </p:sp>
      <p:sp>
        <p:nvSpPr>
          <p:cNvPr id="12" name="Text 9"/>
          <p:cNvSpPr txBox="1"/>
          <p:nvPr/>
        </p:nvSpPr>
        <p:spPr>
          <a:xfrm>
            <a:off x="6327648" y="3566160"/>
            <a:ext cx="2286000" cy="274320"/>
          </a:xfrm>
          <a:prstGeom prst="rect">
            <a:avLst/>
          </a:prstGeom>
          <a:noFill/>
          <a:ln/>
        </p:spPr>
        <p:txBody>
          <a:bodyPr wrap="square" lIns="0" tIns="0" rIns="0" bIns="0" rtlCol="0" anchor="ctr"/>
          <a:lstStyle/>
          <a:p>
            <a:pPr indent="0" marL="0">
              <a:buNone/>
            </a:pPr>
            <a:r>
              <a:rPr lang="en-US" sz="1300" b="1" dirty="0">
                <a:solidFill>
                  <a:schemeClr val="accent1"/>
                </a:solidFill>
                <a:latin typeface="Calibri" pitchFamily="34" charset="0"/>
                <a:ea typeface="Calibri" pitchFamily="34" charset="-122"/>
                <a:cs typeface="Calibri" pitchFamily="34" charset="-120"/>
              </a:rPr>
              <a:t>Found real faults</a:t>
            </a:r>
            <a:endParaRPr lang="en-US" sz="1300" dirty="0"/>
          </a:p>
        </p:txBody>
      </p:sp>
      <p:sp>
        <p:nvSpPr>
          <p:cNvPr id="13" name="Text 10"/>
          <p:cNvSpPr txBox="1"/>
          <p:nvPr/>
        </p:nvSpPr>
        <p:spPr>
          <a:xfrm>
            <a:off x="6327648" y="3858768"/>
            <a:ext cx="2286000" cy="594360"/>
          </a:xfrm>
          <a:prstGeom prst="rect">
            <a:avLst/>
          </a:prstGeom>
          <a:noFill/>
          <a:ln/>
        </p:spPr>
        <p:txBody>
          <a:bodyPr wrap="square" lIns="0" tIns="0" rIns="0" bIns="0" rtlCol="0" anchor="t"/>
          <a:lstStyle/>
          <a:p>
            <a:pPr indent="0" marL="0">
              <a:buNone/>
            </a:pPr>
            <a:r>
              <a:rPr lang="en-US" sz="1050" dirty="0">
                <a:solidFill>
                  <a:srgbClr val="4A5568"/>
                </a:solidFill>
                <a:latin typeface="Calibri" pitchFamily="34" charset="0"/>
                <a:ea typeface="Calibri" pitchFamily="34" charset="-122"/>
                <a:cs typeface="Calibri" pitchFamily="34" charset="-120"/>
              </a:rPr>
              <a:t>Traces exposed a 4x retry loop, wrong-guide answers and needless retries.</a:t>
            </a:r>
            <a:endParaRPr lang="en-US" sz="1050" dirty="0"/>
          </a:p>
        </p:txBody>
      </p:sp>
      <p:sp>
        <p:nvSpPr>
          <p:cNvPr id="25" name="Slide Number Placeholder 0"/>
          <p:cNvSpPr>
            <a:spLocks noGrp="1"/>
          </p:cNvSpPr>
          <p:nvPr>
            <p:ph type="sldNum" sz="quarter" idx="4294967295"/>
          </p:nvPr>
        </p:nvSpPr>
        <p:spPr>
          <a:xfrm>
            <a:off x="8412480" y="48006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8D99AE"/>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02920" y="274320"/>
            <a:ext cx="8138160" cy="777240"/>
          </a:xfrm>
          <a:prstGeom prst="rect">
            <a:avLst/>
          </a:prstGeom>
          <a:noFill/>
          <a:ln/>
        </p:spPr>
        <p:txBody>
          <a:bodyPr wrap="square" lIns="0" tIns="0" rIns="0" bIns="0" rtlCol="0" anchor="t"/>
          <a:lstStyle/>
          <a:p>
            <a:pPr indent="0" marL="0">
              <a:buNone/>
            </a:pPr>
            <a:r>
              <a:rPr lang="en-US" sz="2500" b="1" dirty="0">
                <a:solidFill>
                  <a:srgbClr val="0B1F33"/>
                </a:solidFill>
                <a:latin typeface="Georgia" pitchFamily="34" charset="0"/>
                <a:ea typeface="Georgia" pitchFamily="34" charset="-122"/>
                <a:cs typeface="Georgia" pitchFamily="34" charset="-120"/>
              </a:rPr>
              <a:t>Safety is structural, not a policy note</a:t>
            </a:r>
            <a:endParaRPr lang="en-US" sz="2500" dirty="0"/>
          </a:p>
        </p:txBody>
      </p:sp>
      <p:sp>
        <p:nvSpPr>
          <p:cNvPr id="3" name="safety-card-0"/>
          <p:cNvSpPr/>
          <p:nvPr/>
        </p:nvSpPr>
        <p:spPr>
          <a:xfrm>
            <a:off x="502920" y="1188720"/>
            <a:ext cx="3977640" cy="1188720"/>
          </a:xfrm>
          <a:prstGeom prst="roundRect">
            <a:avLst>
              <a:gd name="adj" fmla="val 6154"/>
            </a:avLst>
          </a:prstGeom>
          <a:solidFill>
            <a:schemeClr val="bg2"/>
          </a:solidFill>
          <a:ln w="12700">
            <a:solidFill>
              <a:schemeClr val="bg2"/>
            </a:solidFill>
            <a:prstDash val="solid"/>
          </a:ln>
        </p:spPr>
      </p:sp>
      <p:sp>
        <p:nvSpPr>
          <p:cNvPr id="4" name="safety-icon-0"/>
          <p:cNvSpPr/>
          <p:nvPr/>
        </p:nvSpPr>
        <p:spPr>
          <a:xfrm>
            <a:off x="667512" y="1371600"/>
            <a:ext cx="457200" cy="457200"/>
          </a:xfrm>
          <a:prstGeom prst="ellipse">
            <a:avLst/>
          </a:prstGeom>
          <a:solidFill>
            <a:schemeClr val="accent1"/>
          </a:solidFill>
          <a:ln w="12700">
            <a:solidFill>
              <a:schemeClr val="accent1"/>
            </a:solidFill>
            <a:prstDash val="solid"/>
          </a:ln>
        </p:spPr>
      </p:sp>
      <p:pic>
        <p:nvPicPr>
          <p:cNvPr id="5" name="Image 0" descr="Allow-list and limits">    </p:cNvPr>
          <p:cNvPicPr>
            <a:picLocks noChangeAspect="1"/>
          </p:cNvPicPr>
          <p:nvPr/>
        </p:nvPicPr>
        <p:blipFill>
          <a:blip r:embed="rId1"/>
          <a:stretch>
            <a:fillRect/>
          </a:stretch>
        </p:blipFill>
        <p:spPr>
          <a:xfrm>
            <a:off x="786384" y="1490472"/>
            <a:ext cx="219456" cy="219456"/>
          </a:xfrm>
          <a:prstGeom prst="rect">
            <a:avLst/>
          </a:prstGeom>
        </p:spPr>
      </p:pic>
      <p:sp>
        <p:nvSpPr>
          <p:cNvPr id="6" name="Text 3"/>
          <p:cNvSpPr txBox="1"/>
          <p:nvPr/>
        </p:nvSpPr>
        <p:spPr>
          <a:xfrm>
            <a:off x="1280160" y="1325880"/>
            <a:ext cx="3063240" cy="292608"/>
          </a:xfrm>
          <a:prstGeom prst="rect">
            <a:avLst/>
          </a:prstGeom>
          <a:noFill/>
          <a:ln/>
        </p:spPr>
        <p:txBody>
          <a:bodyPr wrap="square" lIns="0" tIns="0" rIns="0" bIns="0" rtlCol="0" anchor="ctr"/>
          <a:lstStyle/>
          <a:p>
            <a:pPr indent="0" marL="0">
              <a:buNone/>
            </a:pPr>
            <a:r>
              <a:rPr lang="en-US" sz="1500" b="1" dirty="0">
                <a:solidFill>
                  <a:schemeClr val="tx1"/>
                </a:solidFill>
                <a:latin typeface="Calibri" pitchFamily="34" charset="0"/>
                <a:ea typeface="Calibri" pitchFamily="34" charset="-122"/>
                <a:cs typeface="Calibri" pitchFamily="34" charset="-120"/>
              </a:rPr>
              <a:t>Allow-list and limits</a:t>
            </a:r>
            <a:endParaRPr lang="en-US" sz="1500" dirty="0"/>
          </a:p>
        </p:txBody>
      </p:sp>
      <p:sp>
        <p:nvSpPr>
          <p:cNvPr id="7" name="Text 4"/>
          <p:cNvSpPr txBox="1"/>
          <p:nvPr/>
        </p:nvSpPr>
        <p:spPr>
          <a:xfrm>
            <a:off x="1280160" y="1645920"/>
            <a:ext cx="3063240" cy="658368"/>
          </a:xfrm>
          <a:prstGeom prst="rect">
            <a:avLst/>
          </a:prstGeom>
          <a:noFill/>
          <a:ln/>
        </p:spPr>
        <p:txBody>
          <a:bodyPr wrap="square" lIns="0" tIns="0" rIns="0" bIns="0" rtlCol="0" anchor="t"/>
          <a:lstStyle/>
          <a:p>
            <a:pPr indent="0" marL="0">
              <a:buNone/>
            </a:pPr>
            <a:r>
              <a:rPr lang="en-US" sz="1150" dirty="0">
                <a:solidFill>
                  <a:srgbClr val="4A5568"/>
                </a:solidFill>
                <a:latin typeface="Calibri" pitchFamily="34" charset="0"/>
                <a:ea typeface="Calibri" pitchFamily="34" charset="-122"/>
                <a:cs typeface="Calibri" pitchFamily="34" charset="-120"/>
              </a:rPr>
              <a:t>Six steps maximum. One retry, transient errors only. Unapproved actions refused.</a:t>
            </a:r>
            <a:endParaRPr lang="en-US" sz="1150" dirty="0"/>
          </a:p>
        </p:txBody>
      </p:sp>
      <p:sp>
        <p:nvSpPr>
          <p:cNvPr id="8" name="safety-card-1"/>
          <p:cNvSpPr/>
          <p:nvPr/>
        </p:nvSpPr>
        <p:spPr>
          <a:xfrm>
            <a:off x="4617720" y="1188720"/>
            <a:ext cx="3977640" cy="1188720"/>
          </a:xfrm>
          <a:prstGeom prst="roundRect">
            <a:avLst>
              <a:gd name="adj" fmla="val 6154"/>
            </a:avLst>
          </a:prstGeom>
          <a:solidFill>
            <a:schemeClr val="bg2"/>
          </a:solidFill>
          <a:ln w="12700">
            <a:solidFill>
              <a:schemeClr val="bg2"/>
            </a:solidFill>
            <a:prstDash val="solid"/>
          </a:ln>
        </p:spPr>
      </p:sp>
      <p:sp>
        <p:nvSpPr>
          <p:cNvPr id="9" name="safety-icon-1"/>
          <p:cNvSpPr/>
          <p:nvPr/>
        </p:nvSpPr>
        <p:spPr>
          <a:xfrm>
            <a:off x="4782312" y="1371600"/>
            <a:ext cx="457200" cy="457200"/>
          </a:xfrm>
          <a:prstGeom prst="ellipse">
            <a:avLst/>
          </a:prstGeom>
          <a:solidFill>
            <a:schemeClr val="accent1"/>
          </a:solidFill>
          <a:ln w="12700">
            <a:solidFill>
              <a:schemeClr val="accent1"/>
            </a:solidFill>
            <a:prstDash val="solid"/>
          </a:ln>
        </p:spPr>
      </p:sp>
      <p:pic>
        <p:nvPicPr>
          <p:cNvPr id="10" name="Image 1" descr="Authorization first">    </p:cNvPr>
          <p:cNvPicPr>
            <a:picLocks noChangeAspect="1"/>
          </p:cNvPicPr>
          <p:nvPr/>
        </p:nvPicPr>
        <p:blipFill>
          <a:blip r:embed="rId2"/>
          <a:stretch>
            <a:fillRect/>
          </a:stretch>
        </p:blipFill>
        <p:spPr>
          <a:xfrm>
            <a:off x="4901184" y="1490472"/>
            <a:ext cx="219456" cy="219456"/>
          </a:xfrm>
          <a:prstGeom prst="rect">
            <a:avLst/>
          </a:prstGeom>
        </p:spPr>
      </p:pic>
      <p:sp>
        <p:nvSpPr>
          <p:cNvPr id="11" name="Text 7"/>
          <p:cNvSpPr txBox="1"/>
          <p:nvPr/>
        </p:nvSpPr>
        <p:spPr>
          <a:xfrm>
            <a:off x="5394960" y="1325880"/>
            <a:ext cx="3063240" cy="292608"/>
          </a:xfrm>
          <a:prstGeom prst="rect">
            <a:avLst/>
          </a:prstGeom>
          <a:noFill/>
          <a:ln/>
        </p:spPr>
        <p:txBody>
          <a:bodyPr wrap="square" lIns="0" tIns="0" rIns="0" bIns="0" rtlCol="0" anchor="ctr"/>
          <a:lstStyle/>
          <a:p>
            <a:pPr indent="0" marL="0">
              <a:buNone/>
            </a:pPr>
            <a:r>
              <a:rPr lang="en-US" sz="1500" b="1" dirty="0">
                <a:solidFill>
                  <a:schemeClr val="tx1"/>
                </a:solidFill>
                <a:latin typeface="Calibri" pitchFamily="34" charset="0"/>
                <a:ea typeface="Calibri" pitchFamily="34" charset="-122"/>
                <a:cs typeface="Calibri" pitchFamily="34" charset="-120"/>
              </a:rPr>
              <a:t>Authorization first</a:t>
            </a:r>
            <a:endParaRPr lang="en-US" sz="1500" dirty="0"/>
          </a:p>
        </p:txBody>
      </p:sp>
      <p:sp>
        <p:nvSpPr>
          <p:cNvPr id="12" name="Text 8"/>
          <p:cNvSpPr txBox="1"/>
          <p:nvPr/>
        </p:nvSpPr>
        <p:spPr>
          <a:xfrm>
            <a:off x="5394960" y="1645920"/>
            <a:ext cx="3063240" cy="658368"/>
          </a:xfrm>
          <a:prstGeom prst="rect">
            <a:avLst/>
          </a:prstGeom>
          <a:noFill/>
          <a:ln/>
        </p:spPr>
        <p:txBody>
          <a:bodyPr wrap="square" lIns="0" tIns="0" rIns="0" bIns="0" rtlCol="0" anchor="t"/>
          <a:lstStyle/>
          <a:p>
            <a:pPr indent="0" marL="0">
              <a:buNone/>
            </a:pPr>
            <a:r>
              <a:rPr lang="en-US" sz="1150" dirty="0">
                <a:solidFill>
                  <a:srgbClr val="4A5568"/>
                </a:solidFill>
                <a:latin typeface="Calibri" pitchFamily="34" charset="0"/>
                <a:ea typeface="Calibri" pitchFamily="34" charset="-122"/>
                <a:cs typeface="Calibri" pitchFamily="34" charset="-120"/>
              </a:rPr>
              <a:t>A verified session is checked before the ticket tool can run.</a:t>
            </a:r>
            <a:endParaRPr lang="en-US" sz="1150" dirty="0"/>
          </a:p>
        </p:txBody>
      </p:sp>
      <p:sp>
        <p:nvSpPr>
          <p:cNvPr id="13" name="safety-card-2"/>
          <p:cNvSpPr/>
          <p:nvPr/>
        </p:nvSpPr>
        <p:spPr>
          <a:xfrm>
            <a:off x="502920" y="2514600"/>
            <a:ext cx="3977640" cy="1188720"/>
          </a:xfrm>
          <a:prstGeom prst="roundRect">
            <a:avLst>
              <a:gd name="adj" fmla="val 6154"/>
            </a:avLst>
          </a:prstGeom>
          <a:solidFill>
            <a:schemeClr val="bg2"/>
          </a:solidFill>
          <a:ln w="12700">
            <a:solidFill>
              <a:schemeClr val="bg2"/>
            </a:solidFill>
            <a:prstDash val="solid"/>
          </a:ln>
        </p:spPr>
      </p:sp>
      <p:sp>
        <p:nvSpPr>
          <p:cNvPr id="14" name="safety-icon-2"/>
          <p:cNvSpPr/>
          <p:nvPr/>
        </p:nvSpPr>
        <p:spPr>
          <a:xfrm>
            <a:off x="667512" y="2697480"/>
            <a:ext cx="457200" cy="457200"/>
          </a:xfrm>
          <a:prstGeom prst="ellipse">
            <a:avLst/>
          </a:prstGeom>
          <a:solidFill>
            <a:schemeClr val="accent1"/>
          </a:solidFill>
          <a:ln w="12700">
            <a:solidFill>
              <a:schemeClr val="accent1"/>
            </a:solidFill>
            <a:prstDash val="solid"/>
          </a:ln>
        </p:spPr>
      </p:sp>
      <p:pic>
        <p:nvPicPr>
          <p:cNvPr id="15" name="Image 2" descr="Approval gate">    </p:cNvPr>
          <p:cNvPicPr>
            <a:picLocks noChangeAspect="1"/>
          </p:cNvPicPr>
          <p:nvPr/>
        </p:nvPicPr>
        <p:blipFill>
          <a:blip r:embed="rId3"/>
          <a:stretch>
            <a:fillRect/>
          </a:stretch>
        </p:blipFill>
        <p:spPr>
          <a:xfrm>
            <a:off x="786384" y="2816352"/>
            <a:ext cx="219456" cy="219456"/>
          </a:xfrm>
          <a:prstGeom prst="rect">
            <a:avLst/>
          </a:prstGeom>
        </p:spPr>
      </p:pic>
      <p:sp>
        <p:nvSpPr>
          <p:cNvPr id="16" name="Text 11"/>
          <p:cNvSpPr txBox="1"/>
          <p:nvPr/>
        </p:nvSpPr>
        <p:spPr>
          <a:xfrm>
            <a:off x="1280160" y="2651760"/>
            <a:ext cx="3063240" cy="292608"/>
          </a:xfrm>
          <a:prstGeom prst="rect">
            <a:avLst/>
          </a:prstGeom>
          <a:noFill/>
          <a:ln/>
        </p:spPr>
        <p:txBody>
          <a:bodyPr wrap="square" lIns="0" tIns="0" rIns="0" bIns="0" rtlCol="0" anchor="ctr"/>
          <a:lstStyle/>
          <a:p>
            <a:pPr indent="0" marL="0">
              <a:buNone/>
            </a:pPr>
            <a:r>
              <a:rPr lang="en-US" sz="1500" b="1" dirty="0">
                <a:solidFill>
                  <a:schemeClr val="tx1"/>
                </a:solidFill>
                <a:latin typeface="Calibri" pitchFamily="34" charset="0"/>
                <a:ea typeface="Calibri" pitchFamily="34" charset="-122"/>
                <a:cs typeface="Calibri" pitchFamily="34" charset="-120"/>
              </a:rPr>
              <a:t>Approval gate</a:t>
            </a:r>
            <a:endParaRPr lang="en-US" sz="1500" dirty="0"/>
          </a:p>
        </p:txBody>
      </p:sp>
      <p:sp>
        <p:nvSpPr>
          <p:cNvPr id="17" name="Text 12"/>
          <p:cNvSpPr txBox="1"/>
          <p:nvPr/>
        </p:nvSpPr>
        <p:spPr>
          <a:xfrm>
            <a:off x="1280160" y="2971800"/>
            <a:ext cx="3063240" cy="658368"/>
          </a:xfrm>
          <a:prstGeom prst="rect">
            <a:avLst/>
          </a:prstGeom>
          <a:noFill/>
          <a:ln/>
        </p:spPr>
        <p:txBody>
          <a:bodyPr wrap="square" lIns="0" tIns="0" rIns="0" bIns="0" rtlCol="0" anchor="t"/>
          <a:lstStyle/>
          <a:p>
            <a:pPr indent="0" marL="0">
              <a:buNone/>
            </a:pPr>
            <a:r>
              <a:rPr lang="en-US" sz="1150" dirty="0">
                <a:solidFill>
                  <a:srgbClr val="4A5568"/>
                </a:solidFill>
                <a:latin typeface="Calibri" pitchFamily="34" charset="0"/>
                <a:ea typeface="Calibri" pitchFamily="34" charset="-122"/>
                <a:cs typeface="Calibri" pitchFamily="34" charset="-120"/>
              </a:rPr>
              <a:t>Tickets are created pending. No tool exists that can approve one.</a:t>
            </a:r>
            <a:endParaRPr lang="en-US" sz="1150" dirty="0"/>
          </a:p>
        </p:txBody>
      </p:sp>
      <p:sp>
        <p:nvSpPr>
          <p:cNvPr id="18" name="safety-card-3"/>
          <p:cNvSpPr/>
          <p:nvPr/>
        </p:nvSpPr>
        <p:spPr>
          <a:xfrm>
            <a:off x="4617720" y="2514600"/>
            <a:ext cx="3977640" cy="1188720"/>
          </a:xfrm>
          <a:prstGeom prst="roundRect">
            <a:avLst>
              <a:gd name="adj" fmla="val 6154"/>
            </a:avLst>
          </a:prstGeom>
          <a:solidFill>
            <a:schemeClr val="bg2"/>
          </a:solidFill>
          <a:ln w="12700">
            <a:solidFill>
              <a:schemeClr val="bg2"/>
            </a:solidFill>
            <a:prstDash val="solid"/>
          </a:ln>
        </p:spPr>
      </p:sp>
      <p:sp>
        <p:nvSpPr>
          <p:cNvPr id="19" name="safety-icon-3"/>
          <p:cNvSpPr/>
          <p:nvPr/>
        </p:nvSpPr>
        <p:spPr>
          <a:xfrm>
            <a:off x="4782312" y="2697480"/>
            <a:ext cx="457200" cy="457200"/>
          </a:xfrm>
          <a:prstGeom prst="ellipse">
            <a:avLst/>
          </a:prstGeom>
          <a:solidFill>
            <a:schemeClr val="accent1"/>
          </a:solidFill>
          <a:ln w="12700">
            <a:solidFill>
              <a:schemeClr val="accent1"/>
            </a:solidFill>
            <a:prstDash val="solid"/>
          </a:ln>
        </p:spPr>
      </p:sp>
      <p:pic>
        <p:nvPicPr>
          <p:cNvPr id="20" name="Image 3" descr="Untrusted model">    </p:cNvPr>
          <p:cNvPicPr>
            <a:picLocks noChangeAspect="1"/>
          </p:cNvPicPr>
          <p:nvPr/>
        </p:nvPicPr>
        <p:blipFill>
          <a:blip r:embed="rId4"/>
          <a:stretch>
            <a:fillRect/>
          </a:stretch>
        </p:blipFill>
        <p:spPr>
          <a:xfrm>
            <a:off x="4901184" y="2816352"/>
            <a:ext cx="219456" cy="219456"/>
          </a:xfrm>
          <a:prstGeom prst="rect">
            <a:avLst/>
          </a:prstGeom>
        </p:spPr>
      </p:pic>
      <p:sp>
        <p:nvSpPr>
          <p:cNvPr id="21" name="Text 15"/>
          <p:cNvSpPr txBox="1"/>
          <p:nvPr/>
        </p:nvSpPr>
        <p:spPr>
          <a:xfrm>
            <a:off x="5394960" y="2651760"/>
            <a:ext cx="3063240" cy="292608"/>
          </a:xfrm>
          <a:prstGeom prst="rect">
            <a:avLst/>
          </a:prstGeom>
          <a:noFill/>
          <a:ln/>
        </p:spPr>
        <p:txBody>
          <a:bodyPr wrap="square" lIns="0" tIns="0" rIns="0" bIns="0" rtlCol="0" anchor="ctr"/>
          <a:lstStyle/>
          <a:p>
            <a:pPr indent="0" marL="0">
              <a:buNone/>
            </a:pPr>
            <a:r>
              <a:rPr lang="en-US" sz="1500" b="1" dirty="0">
                <a:solidFill>
                  <a:schemeClr val="tx1"/>
                </a:solidFill>
                <a:latin typeface="Calibri" pitchFamily="34" charset="0"/>
                <a:ea typeface="Calibri" pitchFamily="34" charset="-122"/>
                <a:cs typeface="Calibri" pitchFamily="34" charset="-120"/>
              </a:rPr>
              <a:t>Untrusted model</a:t>
            </a:r>
            <a:endParaRPr lang="en-US" sz="1500" dirty="0"/>
          </a:p>
        </p:txBody>
      </p:sp>
      <p:sp>
        <p:nvSpPr>
          <p:cNvPr id="22" name="Text 16"/>
          <p:cNvSpPr txBox="1"/>
          <p:nvPr/>
        </p:nvSpPr>
        <p:spPr>
          <a:xfrm>
            <a:off x="5394960" y="2971800"/>
            <a:ext cx="3063240" cy="658368"/>
          </a:xfrm>
          <a:prstGeom prst="rect">
            <a:avLst/>
          </a:prstGeom>
          <a:noFill/>
          <a:ln/>
        </p:spPr>
        <p:txBody>
          <a:bodyPr wrap="square" lIns="0" tIns="0" rIns="0" bIns="0" rtlCol="0" anchor="t"/>
          <a:lstStyle/>
          <a:p>
            <a:pPr indent="0" marL="0">
              <a:buNone/>
            </a:pPr>
            <a:r>
              <a:rPr lang="en-US" sz="1150" dirty="0">
                <a:solidFill>
                  <a:srgbClr val="4A5568"/>
                </a:solidFill>
                <a:latin typeface="Calibri" pitchFamily="34" charset="0"/>
                <a:ea typeface="Calibri" pitchFamily="34" charset="-122"/>
                <a:cs typeface="Calibri" pitchFamily="34" charset="-120"/>
              </a:rPr>
              <a:t>Output validated; low confidence, errors or timeouts fall back to rules.</a:t>
            </a:r>
            <a:endParaRPr lang="en-US" sz="1150" dirty="0"/>
          </a:p>
        </p:txBody>
      </p:sp>
      <p:sp>
        <p:nvSpPr>
          <p:cNvPr id="23" name="Text 17"/>
          <p:cNvSpPr txBox="1"/>
          <p:nvPr/>
        </p:nvSpPr>
        <p:spPr>
          <a:xfrm>
            <a:off x="502920" y="3931920"/>
            <a:ext cx="457200" cy="548640"/>
          </a:xfrm>
          <a:prstGeom prst="rect">
            <a:avLst/>
          </a:prstGeom>
          <a:noFill/>
          <a:ln/>
        </p:spPr>
        <p:txBody>
          <a:bodyPr wrap="square" lIns="0" tIns="0" rIns="0" bIns="0" rtlCol="0" anchor="ctr"/>
          <a:lstStyle/>
          <a:p>
            <a:pPr indent="0" marL="0">
              <a:buNone/>
            </a:pPr>
            <a:r>
              <a:rPr lang="en-US" sz="3000" b="1" dirty="0">
                <a:solidFill>
                  <a:schemeClr val="accent1"/>
                </a:solidFill>
                <a:latin typeface="Georgia" pitchFamily="34" charset="0"/>
                <a:ea typeface="Georgia" pitchFamily="34" charset="-122"/>
                <a:cs typeface="Georgia" pitchFamily="34" charset="-120"/>
              </a:rPr>
              <a:t>0</a:t>
            </a:r>
            <a:endParaRPr lang="en-US" sz="3000" dirty="0"/>
          </a:p>
        </p:txBody>
      </p:sp>
      <p:sp>
        <p:nvSpPr>
          <p:cNvPr id="24" name="Text 18"/>
          <p:cNvSpPr txBox="1"/>
          <p:nvPr/>
        </p:nvSpPr>
        <p:spPr>
          <a:xfrm>
            <a:off x="1069848" y="3931920"/>
            <a:ext cx="1554480" cy="548640"/>
          </a:xfrm>
          <a:prstGeom prst="rect">
            <a:avLst/>
          </a:prstGeom>
          <a:noFill/>
          <a:ln/>
        </p:spPr>
        <p:txBody>
          <a:bodyPr wrap="square" lIns="0" tIns="0" rIns="0" bIns="0" rtlCol="0" anchor="ctr"/>
          <a:lstStyle/>
          <a:p>
            <a:pPr indent="0" marL="0">
              <a:buNone/>
            </a:pPr>
            <a:r>
              <a:rPr lang="en-US" sz="1100" dirty="0">
                <a:solidFill>
                  <a:srgbClr val="4A5568"/>
                </a:solidFill>
                <a:latin typeface="Calibri" pitchFamily="34" charset="0"/>
                <a:ea typeface="Calibri" pitchFamily="34" charset="-122"/>
                <a:cs typeface="Calibri" pitchFamily="34" charset="-120"/>
              </a:rPr>
              <a:t>safety violations in 66 scenarios</a:t>
            </a:r>
            <a:endParaRPr lang="en-US" sz="1100" dirty="0"/>
          </a:p>
        </p:txBody>
      </p:sp>
      <p:sp>
        <p:nvSpPr>
          <p:cNvPr id="25" name="Text 19"/>
          <p:cNvSpPr txBox="1"/>
          <p:nvPr/>
        </p:nvSpPr>
        <p:spPr>
          <a:xfrm>
            <a:off x="3291840" y="3931920"/>
            <a:ext cx="1143000" cy="548640"/>
          </a:xfrm>
          <a:prstGeom prst="rect">
            <a:avLst/>
          </a:prstGeom>
          <a:noFill/>
          <a:ln/>
        </p:spPr>
        <p:txBody>
          <a:bodyPr wrap="square" lIns="0" tIns="0" rIns="0" bIns="0" rtlCol="0" anchor="ctr"/>
          <a:lstStyle/>
          <a:p>
            <a:pPr indent="0" marL="0">
              <a:buNone/>
            </a:pPr>
            <a:r>
              <a:rPr lang="en-US" sz="3000" b="1" dirty="0">
                <a:solidFill>
                  <a:schemeClr val="accent1"/>
                </a:solidFill>
                <a:latin typeface="Georgia" pitchFamily="34" charset="0"/>
                <a:ea typeface="Georgia" pitchFamily="34" charset="-122"/>
                <a:cs typeface="Georgia" pitchFamily="34" charset="-120"/>
              </a:rPr>
              <a:t>6 / 6</a:t>
            </a:r>
            <a:endParaRPr lang="en-US" sz="3000" dirty="0"/>
          </a:p>
        </p:txBody>
      </p:sp>
      <p:sp>
        <p:nvSpPr>
          <p:cNvPr id="26" name="Text 20"/>
          <p:cNvSpPr txBox="1"/>
          <p:nvPr/>
        </p:nvSpPr>
        <p:spPr>
          <a:xfrm>
            <a:off x="4544568" y="3931920"/>
            <a:ext cx="1554480" cy="548640"/>
          </a:xfrm>
          <a:prstGeom prst="rect">
            <a:avLst/>
          </a:prstGeom>
          <a:noFill/>
          <a:ln/>
        </p:spPr>
        <p:txBody>
          <a:bodyPr wrap="square" lIns="0" tIns="0" rIns="0" bIns="0" rtlCol="0" anchor="ctr"/>
          <a:lstStyle/>
          <a:p>
            <a:pPr indent="0" marL="0">
              <a:buNone/>
            </a:pPr>
            <a:r>
              <a:rPr lang="en-US" sz="1100" dirty="0">
                <a:solidFill>
                  <a:srgbClr val="4A5568"/>
                </a:solidFill>
                <a:latin typeface="Calibri" pitchFamily="34" charset="0"/>
                <a:ea typeface="Calibri" pitchFamily="34" charset="-122"/>
                <a:cs typeface="Calibri" pitchFamily="34" charset="-120"/>
              </a:rPr>
              <a:t>injected bugs caught by tests</a:t>
            </a:r>
            <a:endParaRPr lang="en-US" sz="1100" dirty="0"/>
          </a:p>
        </p:txBody>
      </p:sp>
      <p:sp>
        <p:nvSpPr>
          <p:cNvPr id="27" name="Text 21"/>
          <p:cNvSpPr txBox="1"/>
          <p:nvPr/>
        </p:nvSpPr>
        <p:spPr>
          <a:xfrm>
            <a:off x="6080760" y="3931920"/>
            <a:ext cx="685800" cy="548640"/>
          </a:xfrm>
          <a:prstGeom prst="rect">
            <a:avLst/>
          </a:prstGeom>
          <a:noFill/>
          <a:ln/>
        </p:spPr>
        <p:txBody>
          <a:bodyPr wrap="square" lIns="0" tIns="0" rIns="0" bIns="0" rtlCol="0" anchor="ctr"/>
          <a:lstStyle/>
          <a:p>
            <a:pPr indent="0" marL="0">
              <a:buNone/>
            </a:pPr>
            <a:r>
              <a:rPr lang="en-US" sz="3000" b="1" dirty="0">
                <a:solidFill>
                  <a:schemeClr val="accent1"/>
                </a:solidFill>
                <a:latin typeface="Georgia" pitchFamily="34" charset="0"/>
                <a:ea typeface="Georgia" pitchFamily="34" charset="-122"/>
                <a:cs typeface="Georgia" pitchFamily="34" charset="-120"/>
              </a:rPr>
              <a:t>79</a:t>
            </a:r>
            <a:endParaRPr lang="en-US" sz="3000" dirty="0"/>
          </a:p>
        </p:txBody>
      </p:sp>
      <p:sp>
        <p:nvSpPr>
          <p:cNvPr id="28" name="Text 22"/>
          <p:cNvSpPr txBox="1"/>
          <p:nvPr/>
        </p:nvSpPr>
        <p:spPr>
          <a:xfrm>
            <a:off x="6876288" y="3931920"/>
            <a:ext cx="1554480" cy="548640"/>
          </a:xfrm>
          <a:prstGeom prst="rect">
            <a:avLst/>
          </a:prstGeom>
          <a:noFill/>
          <a:ln/>
        </p:spPr>
        <p:txBody>
          <a:bodyPr wrap="square" lIns="0" tIns="0" rIns="0" bIns="0" rtlCol="0" anchor="ctr"/>
          <a:lstStyle/>
          <a:p>
            <a:pPr indent="0" marL="0">
              <a:buNone/>
            </a:pPr>
            <a:r>
              <a:rPr lang="en-US" sz="1100" dirty="0">
                <a:solidFill>
                  <a:srgbClr val="4A5568"/>
                </a:solidFill>
                <a:latin typeface="Calibri" pitchFamily="34" charset="0"/>
                <a:ea typeface="Calibri" pitchFamily="34" charset="-122"/>
                <a:cs typeface="Calibri" pitchFamily="34" charset="-120"/>
              </a:rPr>
              <a:t>automated tests, run offline</a:t>
            </a:r>
            <a:endParaRPr lang="en-US" sz="1100" dirty="0"/>
          </a:p>
        </p:txBody>
      </p:sp>
      <p:sp>
        <p:nvSpPr>
          <p:cNvPr id="25" name="Slide Number Placeholder 0"/>
          <p:cNvSpPr>
            <a:spLocks noGrp="1"/>
          </p:cNvSpPr>
          <p:nvPr>
            <p:ph type="sldNum" sz="quarter" idx="4294967295"/>
          </p:nvPr>
        </p:nvSpPr>
        <p:spPr>
          <a:xfrm>
            <a:off x="8412480" y="48006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8D99AE"/>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02920" y="274320"/>
            <a:ext cx="8138160" cy="777240"/>
          </a:xfrm>
          <a:prstGeom prst="rect">
            <a:avLst/>
          </a:prstGeom>
          <a:noFill/>
          <a:ln/>
        </p:spPr>
        <p:txBody>
          <a:bodyPr wrap="square" lIns="0" tIns="0" rIns="0" bIns="0" rtlCol="0" anchor="t"/>
          <a:lstStyle/>
          <a:p>
            <a:pPr indent="0" marL="0">
              <a:buNone/>
            </a:pPr>
            <a:r>
              <a:rPr lang="en-US" sz="2500" b="1" dirty="0">
                <a:solidFill>
                  <a:srgbClr val="0B1F33"/>
                </a:solidFill>
                <a:latin typeface="Georgia" pitchFamily="34" charset="0"/>
                <a:ea typeface="Georgia" pitchFamily="34" charset="-122"/>
                <a:cs typeface="Georgia" pitchFamily="34" charset="-120"/>
              </a:rPr>
              <a:t>Evaluation: the gap between two numbers is the finding</a:t>
            </a:r>
            <a:endParaRPr lang="en-US" sz="2500" dirty="0"/>
          </a:p>
        </p:txBody>
      </p:sp>
      <p:graphicFrame>
        <p:nvGraphicFramePr>
          <p:cNvPr id="3" name="Chart 0" descr=""/>
          <p:cNvGraphicFramePr/>
          <p:nvPr/>
        </p:nvGraphicFramePr>
        <p:xfrm>
          <a:off x="457200" y="1097280"/>
          <a:ext cx="5394960" cy="3520440"/>
        </p:xfrm>
        <a:graphic xmlns:a="http://schemas.openxmlformats.org/drawingml/2006/main">
          <a:graphicData uri="http://schemas.openxmlformats.org/drawingml/2006/chart">
            <c:chart xmlns:c="http://schemas.openxmlformats.org/drawingml/2006/chart" r:id="rId1"/>
          </a:graphicData>
        </a:graphic>
      </p:graphicFrame>
      <p:sp>
        <p:nvSpPr>
          <p:cNvPr id="4" name="eval-card-0"/>
          <p:cNvSpPr/>
          <p:nvPr/>
        </p:nvSpPr>
        <p:spPr>
          <a:xfrm>
            <a:off x="6080760" y="1143000"/>
            <a:ext cx="2651760" cy="1005840"/>
          </a:xfrm>
          <a:prstGeom prst="roundRect">
            <a:avLst>
              <a:gd name="adj" fmla="val 7273"/>
            </a:avLst>
          </a:prstGeom>
          <a:solidFill>
            <a:schemeClr val="bg2"/>
          </a:solidFill>
          <a:ln w="12700">
            <a:solidFill>
              <a:schemeClr val="bg2"/>
            </a:solidFill>
            <a:prstDash val="solid"/>
          </a:ln>
        </p:spPr>
      </p:sp>
      <p:sp>
        <p:nvSpPr>
          <p:cNvPr id="5" name="eval-accent-0"/>
          <p:cNvSpPr/>
          <p:nvPr/>
        </p:nvSpPr>
        <p:spPr>
          <a:xfrm>
            <a:off x="6080760" y="1252728"/>
            <a:ext cx="64008" cy="786384"/>
          </a:xfrm>
          <a:prstGeom prst="rect">
            <a:avLst/>
          </a:prstGeom>
          <a:solidFill>
            <a:schemeClr val="accent3"/>
          </a:solidFill>
          <a:ln w="12700">
            <a:solidFill>
              <a:schemeClr val="accent3"/>
            </a:solidFill>
            <a:prstDash val="solid"/>
          </a:ln>
        </p:spPr>
      </p:sp>
      <p:sp>
        <p:nvSpPr>
          <p:cNvPr id="6" name="Text 3"/>
          <p:cNvSpPr txBox="1"/>
          <p:nvPr/>
        </p:nvSpPr>
        <p:spPr>
          <a:xfrm>
            <a:off x="6291072" y="1234440"/>
            <a:ext cx="2331720" cy="320040"/>
          </a:xfrm>
          <a:prstGeom prst="rect">
            <a:avLst/>
          </a:prstGeom>
          <a:noFill/>
          <a:ln/>
        </p:spPr>
        <p:txBody>
          <a:bodyPr wrap="square" lIns="0" tIns="0" rIns="0" bIns="0" rtlCol="0" anchor="ctr"/>
          <a:lstStyle/>
          <a:p>
            <a:pPr indent="0" marL="0">
              <a:buNone/>
            </a:pPr>
            <a:r>
              <a:rPr lang="en-US" sz="1500" b="1" dirty="0">
                <a:solidFill>
                  <a:schemeClr val="tx1"/>
                </a:solidFill>
                <a:latin typeface="Calibri" pitchFamily="34" charset="0"/>
                <a:ea typeface="Calibri" pitchFamily="34" charset="-122"/>
                <a:cs typeface="Calibri" pitchFamily="34" charset="-120"/>
              </a:rPr>
              <a:t>41 points</a:t>
            </a:r>
            <a:endParaRPr lang="en-US" sz="1500" dirty="0"/>
          </a:p>
        </p:txBody>
      </p:sp>
      <p:sp>
        <p:nvSpPr>
          <p:cNvPr id="7" name="Text 4"/>
          <p:cNvSpPr txBox="1"/>
          <p:nvPr/>
        </p:nvSpPr>
        <p:spPr>
          <a:xfrm>
            <a:off x="6291072" y="1572768"/>
            <a:ext cx="2331720" cy="548640"/>
          </a:xfrm>
          <a:prstGeom prst="rect">
            <a:avLst/>
          </a:prstGeom>
          <a:noFill/>
          <a:ln/>
        </p:spPr>
        <p:txBody>
          <a:bodyPr wrap="square" lIns="0" tIns="0" rIns="0" bIns="0" rtlCol="0" anchor="t"/>
          <a:lstStyle/>
          <a:p>
            <a:pPr indent="0" marL="0">
              <a:buNone/>
            </a:pPr>
            <a:r>
              <a:rPr lang="en-US" sz="1050" dirty="0">
                <a:solidFill>
                  <a:srgbClr val="4A5568"/>
                </a:solidFill>
                <a:latin typeface="Calibri" pitchFamily="34" charset="0"/>
                <a:ea typeface="Calibri" pitchFamily="34" charset="-122"/>
                <a:cs typeface="Calibri" pitchFamily="34" charset="-120"/>
              </a:rPr>
              <a:t>gap between dev and held-out: we tuned to our own test set.</a:t>
            </a:r>
            <a:endParaRPr lang="en-US" sz="1050" dirty="0"/>
          </a:p>
        </p:txBody>
      </p:sp>
      <p:sp>
        <p:nvSpPr>
          <p:cNvPr id="8" name="eval-card-1"/>
          <p:cNvSpPr/>
          <p:nvPr/>
        </p:nvSpPr>
        <p:spPr>
          <a:xfrm>
            <a:off x="6080760" y="2286000"/>
            <a:ext cx="2651760" cy="1005840"/>
          </a:xfrm>
          <a:prstGeom prst="roundRect">
            <a:avLst>
              <a:gd name="adj" fmla="val 7273"/>
            </a:avLst>
          </a:prstGeom>
          <a:solidFill>
            <a:schemeClr val="bg2"/>
          </a:solidFill>
          <a:ln w="12700">
            <a:solidFill>
              <a:schemeClr val="bg2"/>
            </a:solidFill>
            <a:prstDash val="solid"/>
          </a:ln>
        </p:spPr>
      </p:sp>
      <p:sp>
        <p:nvSpPr>
          <p:cNvPr id="9" name="eval-accent-1"/>
          <p:cNvSpPr/>
          <p:nvPr/>
        </p:nvSpPr>
        <p:spPr>
          <a:xfrm>
            <a:off x="6080760" y="2395728"/>
            <a:ext cx="64008" cy="786384"/>
          </a:xfrm>
          <a:prstGeom prst="rect">
            <a:avLst/>
          </a:prstGeom>
          <a:solidFill>
            <a:schemeClr val="accent4"/>
          </a:solidFill>
          <a:ln w="12700">
            <a:solidFill>
              <a:schemeClr val="accent4"/>
            </a:solidFill>
            <a:prstDash val="solid"/>
          </a:ln>
        </p:spPr>
      </p:sp>
      <p:sp>
        <p:nvSpPr>
          <p:cNvPr id="10" name="Text 7"/>
          <p:cNvSpPr txBox="1"/>
          <p:nvPr/>
        </p:nvSpPr>
        <p:spPr>
          <a:xfrm>
            <a:off x="6291072" y="2377440"/>
            <a:ext cx="2331720" cy="320040"/>
          </a:xfrm>
          <a:prstGeom prst="rect">
            <a:avLst/>
          </a:prstGeom>
          <a:noFill/>
          <a:ln/>
        </p:spPr>
        <p:txBody>
          <a:bodyPr wrap="square" lIns="0" tIns="0" rIns="0" bIns="0" rtlCol="0" anchor="ctr"/>
          <a:lstStyle/>
          <a:p>
            <a:pPr indent="0" marL="0">
              <a:buNone/>
            </a:pPr>
            <a:r>
              <a:rPr lang="en-US" sz="1500" b="1" dirty="0">
                <a:solidFill>
                  <a:schemeClr val="tx1"/>
                </a:solidFill>
                <a:latin typeface="Calibri" pitchFamily="34" charset="0"/>
                <a:ea typeface="Calibri" pitchFamily="34" charset="-122"/>
                <a:cs typeface="Calibri" pitchFamily="34" charset="-120"/>
              </a:rPr>
              <a:t>0 violations</a:t>
            </a:r>
            <a:endParaRPr lang="en-US" sz="1500" dirty="0"/>
          </a:p>
        </p:txBody>
      </p:sp>
      <p:sp>
        <p:nvSpPr>
          <p:cNvPr id="11" name="Text 8"/>
          <p:cNvSpPr txBox="1"/>
          <p:nvPr/>
        </p:nvSpPr>
        <p:spPr>
          <a:xfrm>
            <a:off x="6291072" y="2715768"/>
            <a:ext cx="2331720" cy="548640"/>
          </a:xfrm>
          <a:prstGeom prst="rect">
            <a:avLst/>
          </a:prstGeom>
          <a:noFill/>
          <a:ln/>
        </p:spPr>
        <p:txBody>
          <a:bodyPr wrap="square" lIns="0" tIns="0" rIns="0" bIns="0" rtlCol="0" anchor="t"/>
          <a:lstStyle/>
          <a:p>
            <a:pPr indent="0" marL="0">
              <a:buNone/>
            </a:pPr>
            <a:r>
              <a:rPr lang="en-US" sz="1050" dirty="0">
                <a:solidFill>
                  <a:srgbClr val="4A5568"/>
                </a:solidFill>
                <a:latin typeface="Calibri" pitchFamily="34" charset="0"/>
                <a:ea typeface="Calibri" pitchFamily="34" charset="-122"/>
                <a:cs typeface="Calibri" pitchFamily="34" charset="-120"/>
              </a:rPr>
              <a:t>safety held in every scenario of both sets.</a:t>
            </a:r>
            <a:endParaRPr lang="en-US" sz="1050" dirty="0"/>
          </a:p>
        </p:txBody>
      </p:sp>
      <p:sp>
        <p:nvSpPr>
          <p:cNvPr id="12" name="eval-card-2"/>
          <p:cNvSpPr/>
          <p:nvPr/>
        </p:nvSpPr>
        <p:spPr>
          <a:xfrm>
            <a:off x="6080760" y="3429000"/>
            <a:ext cx="2651760" cy="1005840"/>
          </a:xfrm>
          <a:prstGeom prst="roundRect">
            <a:avLst>
              <a:gd name="adj" fmla="val 7273"/>
            </a:avLst>
          </a:prstGeom>
          <a:solidFill>
            <a:schemeClr val="bg2"/>
          </a:solidFill>
          <a:ln w="12700">
            <a:solidFill>
              <a:schemeClr val="bg2"/>
            </a:solidFill>
            <a:prstDash val="solid"/>
          </a:ln>
        </p:spPr>
      </p:sp>
      <p:sp>
        <p:nvSpPr>
          <p:cNvPr id="13" name="eval-accent-2"/>
          <p:cNvSpPr/>
          <p:nvPr/>
        </p:nvSpPr>
        <p:spPr>
          <a:xfrm>
            <a:off x="6080760" y="3538728"/>
            <a:ext cx="64008" cy="786384"/>
          </a:xfrm>
          <a:prstGeom prst="rect">
            <a:avLst/>
          </a:prstGeom>
          <a:solidFill>
            <a:schemeClr val="accent6"/>
          </a:solidFill>
          <a:ln w="12700">
            <a:solidFill>
              <a:schemeClr val="accent6"/>
            </a:solidFill>
            <a:prstDash val="solid"/>
          </a:ln>
        </p:spPr>
      </p:sp>
      <p:sp>
        <p:nvSpPr>
          <p:cNvPr id="14" name="Text 11"/>
          <p:cNvSpPr txBox="1"/>
          <p:nvPr/>
        </p:nvSpPr>
        <p:spPr>
          <a:xfrm>
            <a:off x="6291072" y="3520440"/>
            <a:ext cx="2331720" cy="320040"/>
          </a:xfrm>
          <a:prstGeom prst="rect">
            <a:avLst/>
          </a:prstGeom>
          <a:noFill/>
          <a:ln/>
        </p:spPr>
        <p:txBody>
          <a:bodyPr wrap="square" lIns="0" tIns="0" rIns="0" bIns="0" rtlCol="0" anchor="ctr"/>
          <a:lstStyle/>
          <a:p>
            <a:pPr indent="0" marL="0">
              <a:buNone/>
            </a:pPr>
            <a:r>
              <a:rPr lang="en-US" sz="1500" b="1" dirty="0">
                <a:solidFill>
                  <a:schemeClr val="tx1"/>
                </a:solidFill>
                <a:latin typeface="Calibri" pitchFamily="34" charset="0"/>
                <a:ea typeface="Calibri" pitchFamily="34" charset="-122"/>
                <a:cs typeface="Calibri" pitchFamily="34" charset="-120"/>
              </a:rPr>
              <a:t>Keyword mode</a:t>
            </a:r>
            <a:endParaRPr lang="en-US" sz="1500" dirty="0"/>
          </a:p>
        </p:txBody>
      </p:sp>
      <p:sp>
        <p:nvSpPr>
          <p:cNvPr id="15" name="Text 12"/>
          <p:cNvSpPr txBox="1"/>
          <p:nvPr/>
        </p:nvSpPr>
        <p:spPr>
          <a:xfrm>
            <a:off x="6291072" y="3858768"/>
            <a:ext cx="2331720" cy="548640"/>
          </a:xfrm>
          <a:prstGeom prst="rect">
            <a:avLst/>
          </a:prstGeom>
          <a:noFill/>
          <a:ln/>
        </p:spPr>
        <p:txBody>
          <a:bodyPr wrap="square" lIns="0" tIns="0" rIns="0" bIns="0" rtlCol="0" anchor="t"/>
          <a:lstStyle/>
          <a:p>
            <a:pPr indent="0" marL="0">
              <a:buNone/>
            </a:pPr>
            <a:r>
              <a:rPr lang="en-US" sz="1050" dirty="0">
                <a:solidFill>
                  <a:srgbClr val="4A5568"/>
                </a:solidFill>
                <a:latin typeface="Calibri" pitchFamily="34" charset="0"/>
                <a:ea typeface="Calibri" pitchFamily="34" charset="-122"/>
                <a:cs typeface="Calibri" pitchFamily="34" charset="-120"/>
              </a:rPr>
              <a:t>Offline classifier. Gemini accuracy: not yet measured by us.</a:t>
            </a:r>
            <a:endParaRPr lang="en-US" sz="1050" dirty="0"/>
          </a:p>
        </p:txBody>
      </p:sp>
      <p:sp>
        <p:nvSpPr>
          <p:cNvPr id="25" name="Slide Number Placeholder 0"/>
          <p:cNvSpPr>
            <a:spLocks noGrp="1"/>
          </p:cNvSpPr>
          <p:nvPr>
            <p:ph type="sldNum" sz="quarter" idx="4294967295"/>
          </p:nvPr>
        </p:nvSpPr>
        <p:spPr>
          <a:xfrm>
            <a:off x="8412480" y="48006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8D99AE"/>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02920" y="274320"/>
            <a:ext cx="8138160" cy="777240"/>
          </a:xfrm>
          <a:prstGeom prst="rect">
            <a:avLst/>
          </a:prstGeom>
          <a:noFill/>
          <a:ln/>
        </p:spPr>
        <p:txBody>
          <a:bodyPr wrap="square" lIns="0" tIns="0" rIns="0" bIns="0" rtlCol="0" anchor="t"/>
          <a:lstStyle/>
          <a:p>
            <a:pPr indent="0" marL="0">
              <a:buNone/>
            </a:pPr>
            <a:r>
              <a:rPr lang="en-US" sz="2500" b="1" dirty="0">
                <a:solidFill>
                  <a:srgbClr val="0B1F33"/>
                </a:solidFill>
                <a:latin typeface="Georgia" pitchFamily="34" charset="0"/>
                <a:ea typeface="Georgia" pitchFamily="34" charset="-122"/>
                <a:cs typeface="Georgia" pitchFamily="34" charset="-120"/>
              </a:rPr>
              <a:t>What still fails, and why we left it</a:t>
            </a:r>
            <a:endParaRPr lang="en-US" sz="2500" dirty="0"/>
          </a:p>
        </p:txBody>
      </p:sp>
      <p:sp>
        <p:nvSpPr>
          <p:cNvPr id="3" name="fail-card-0"/>
          <p:cNvSpPr/>
          <p:nvPr/>
        </p:nvSpPr>
        <p:spPr>
          <a:xfrm>
            <a:off x="502920" y="1188720"/>
            <a:ext cx="2606040" cy="2514600"/>
          </a:xfrm>
          <a:prstGeom prst="roundRect">
            <a:avLst>
              <a:gd name="adj" fmla="val 2909"/>
            </a:avLst>
          </a:prstGeom>
          <a:solidFill>
            <a:schemeClr val="bg2"/>
          </a:solidFill>
          <a:ln w="12700">
            <a:solidFill>
              <a:schemeClr val="bg2"/>
            </a:solidFill>
            <a:prstDash val="solid"/>
          </a:ln>
        </p:spPr>
      </p:sp>
      <p:sp>
        <p:nvSpPr>
          <p:cNvPr id="4" name="fail-icon-0"/>
          <p:cNvSpPr/>
          <p:nvPr/>
        </p:nvSpPr>
        <p:spPr>
          <a:xfrm>
            <a:off x="685800" y="1371600"/>
            <a:ext cx="502920" cy="502920"/>
          </a:xfrm>
          <a:prstGeom prst="ellipse">
            <a:avLst/>
          </a:prstGeom>
          <a:solidFill>
            <a:schemeClr val="accent3"/>
          </a:solidFill>
          <a:ln w="12700">
            <a:solidFill>
              <a:schemeClr val="accent3"/>
            </a:solidFill>
            <a:prstDash val="solid"/>
          </a:ln>
        </p:spPr>
      </p:sp>
      <p:pic>
        <p:nvPicPr>
          <p:cNvPr id="5" name="Image 0" descr="“No wifi.” gets a factory-reset guide">    </p:cNvPr>
          <p:cNvPicPr>
            <a:picLocks noChangeAspect="1"/>
          </p:cNvPicPr>
          <p:nvPr/>
        </p:nvPicPr>
        <p:blipFill>
          <a:blip r:embed="rId1"/>
          <a:stretch>
            <a:fillRect/>
          </a:stretch>
        </p:blipFill>
        <p:spPr>
          <a:xfrm>
            <a:off x="813816" y="1499616"/>
            <a:ext cx="246888" cy="246888"/>
          </a:xfrm>
          <a:prstGeom prst="rect">
            <a:avLst/>
          </a:prstGeom>
        </p:spPr>
      </p:pic>
      <p:sp>
        <p:nvSpPr>
          <p:cNvPr id="6" name="Text 3"/>
          <p:cNvSpPr txBox="1"/>
          <p:nvPr/>
        </p:nvSpPr>
        <p:spPr>
          <a:xfrm>
            <a:off x="685800" y="2011680"/>
            <a:ext cx="2286000" cy="594360"/>
          </a:xfrm>
          <a:prstGeom prst="rect">
            <a:avLst/>
          </a:prstGeom>
          <a:noFill/>
          <a:ln/>
        </p:spPr>
        <p:txBody>
          <a:bodyPr wrap="square" lIns="0" tIns="0" rIns="0" bIns="0" rtlCol="0" anchor="t"/>
          <a:lstStyle/>
          <a:p>
            <a:pPr indent="0" marL="0">
              <a:buNone/>
            </a:pPr>
            <a:r>
              <a:rPr lang="en-US" sz="1400" b="1" dirty="0">
                <a:solidFill>
                  <a:schemeClr val="tx1"/>
                </a:solidFill>
                <a:latin typeface="Calibri" pitchFamily="34" charset="0"/>
                <a:ea typeface="Calibri" pitchFamily="34" charset="-122"/>
                <a:cs typeface="Calibri" pitchFamily="34" charset="-120"/>
              </a:rPr>
              <a:t>“No wifi.” gets a factory-reset guide</a:t>
            </a:r>
            <a:endParaRPr lang="en-US" sz="1400" dirty="0"/>
          </a:p>
        </p:txBody>
      </p:sp>
      <p:sp>
        <p:nvSpPr>
          <p:cNvPr id="7" name="Text 4"/>
          <p:cNvSpPr txBox="1"/>
          <p:nvPr/>
        </p:nvSpPr>
        <p:spPr>
          <a:xfrm>
            <a:off x="685800" y="2651760"/>
            <a:ext cx="2286000" cy="1005840"/>
          </a:xfrm>
          <a:prstGeom prst="rect">
            <a:avLst/>
          </a:prstGeom>
          <a:noFill/>
          <a:ln/>
        </p:spPr>
        <p:txBody>
          <a:bodyPr wrap="square" lIns="0" tIns="0" rIns="0" bIns="0" rtlCol="0" anchor="t"/>
          <a:lstStyle/>
          <a:p>
            <a:pPr indent="0" marL="0">
              <a:buNone/>
            </a:pPr>
            <a:r>
              <a:rPr lang="en-US" sz="1100" dirty="0">
                <a:solidFill>
                  <a:srgbClr val="4A5568"/>
                </a:solidFill>
                <a:latin typeface="Calibri" pitchFamily="34" charset="0"/>
                <a:ea typeface="Calibri" pitchFamily="34" charset="-122"/>
                <a:cs typeface="Calibri" pitchFamily="34" charset="-120"/>
              </a:rPr>
              <a:t>Lexical retrieval matches words, not meaning. Cited, but wrong for the symptom. (FC-10)</a:t>
            </a:r>
            <a:endParaRPr lang="en-US" sz="1100" dirty="0"/>
          </a:p>
        </p:txBody>
      </p:sp>
      <p:sp>
        <p:nvSpPr>
          <p:cNvPr id="8" name="fail-card-1"/>
          <p:cNvSpPr/>
          <p:nvPr/>
        </p:nvSpPr>
        <p:spPr>
          <a:xfrm>
            <a:off x="3246120" y="1188720"/>
            <a:ext cx="2606040" cy="2514600"/>
          </a:xfrm>
          <a:prstGeom prst="roundRect">
            <a:avLst>
              <a:gd name="adj" fmla="val 2909"/>
            </a:avLst>
          </a:prstGeom>
          <a:solidFill>
            <a:schemeClr val="bg2"/>
          </a:solidFill>
          <a:ln w="12700">
            <a:solidFill>
              <a:schemeClr val="bg2"/>
            </a:solidFill>
            <a:prstDash val="solid"/>
          </a:ln>
        </p:spPr>
      </p:sp>
      <p:sp>
        <p:nvSpPr>
          <p:cNvPr id="9" name="fail-icon-1"/>
          <p:cNvSpPr/>
          <p:nvPr/>
        </p:nvSpPr>
        <p:spPr>
          <a:xfrm>
            <a:off x="3429000" y="1371600"/>
            <a:ext cx="502920" cy="502920"/>
          </a:xfrm>
          <a:prstGeom prst="ellipse">
            <a:avLst/>
          </a:prstGeom>
          <a:solidFill>
            <a:schemeClr val="accent3"/>
          </a:solidFill>
          <a:ln w="12700">
            <a:solidFill>
              <a:schemeClr val="accent3"/>
            </a:solidFill>
            <a:prstDash val="solid"/>
          </a:ln>
        </p:spPr>
      </p:sp>
      <p:pic>
        <p:nvPicPr>
          <p:cNvPr id="10" name="Image 1" descr="Natural phrasing the fallback can't read">    </p:cNvPr>
          <p:cNvPicPr>
            <a:picLocks noChangeAspect="1"/>
          </p:cNvPicPr>
          <p:nvPr/>
        </p:nvPicPr>
        <p:blipFill>
          <a:blip r:embed="rId2"/>
          <a:stretch>
            <a:fillRect/>
          </a:stretch>
        </p:blipFill>
        <p:spPr>
          <a:xfrm>
            <a:off x="3557016" y="1499616"/>
            <a:ext cx="246888" cy="246888"/>
          </a:xfrm>
          <a:prstGeom prst="rect">
            <a:avLst/>
          </a:prstGeom>
        </p:spPr>
      </p:pic>
      <p:sp>
        <p:nvSpPr>
          <p:cNvPr id="11" name="Text 7"/>
          <p:cNvSpPr txBox="1"/>
          <p:nvPr/>
        </p:nvSpPr>
        <p:spPr>
          <a:xfrm>
            <a:off x="3429000" y="2011680"/>
            <a:ext cx="2286000" cy="594360"/>
          </a:xfrm>
          <a:prstGeom prst="rect">
            <a:avLst/>
          </a:prstGeom>
          <a:noFill/>
          <a:ln/>
        </p:spPr>
        <p:txBody>
          <a:bodyPr wrap="square" lIns="0" tIns="0" rIns="0" bIns="0" rtlCol="0" anchor="t"/>
          <a:lstStyle/>
          <a:p>
            <a:pPr indent="0" marL="0">
              <a:buNone/>
            </a:pPr>
            <a:r>
              <a:rPr lang="en-US" sz="1400" b="1" dirty="0">
                <a:solidFill>
                  <a:schemeClr val="tx1"/>
                </a:solidFill>
                <a:latin typeface="Calibri" pitchFamily="34" charset="0"/>
                <a:ea typeface="Calibri" pitchFamily="34" charset="-122"/>
                <a:cs typeface="Calibri" pitchFamily="34" charset="-120"/>
              </a:rPr>
              <a:t>Natural phrasing the fallback can't read</a:t>
            </a:r>
            <a:endParaRPr lang="en-US" sz="1400" dirty="0"/>
          </a:p>
        </p:txBody>
      </p:sp>
      <p:sp>
        <p:nvSpPr>
          <p:cNvPr id="12" name="Text 8"/>
          <p:cNvSpPr txBox="1"/>
          <p:nvPr/>
        </p:nvSpPr>
        <p:spPr>
          <a:xfrm>
            <a:off x="3429000" y="2651760"/>
            <a:ext cx="2286000" cy="1005840"/>
          </a:xfrm>
          <a:prstGeom prst="rect">
            <a:avLst/>
          </a:prstGeom>
          <a:noFill/>
          <a:ln/>
        </p:spPr>
        <p:txBody>
          <a:bodyPr wrap="square" lIns="0" tIns="0" rIns="0" bIns="0" rtlCol="0" anchor="t"/>
          <a:lstStyle/>
          <a:p>
            <a:pPr indent="0" marL="0">
              <a:buNone/>
            </a:pPr>
            <a:r>
              <a:rPr lang="en-US" sz="1100" dirty="0">
                <a:solidFill>
                  <a:srgbClr val="4A5568"/>
                </a:solidFill>
                <a:latin typeface="Calibri" pitchFamily="34" charset="0"/>
                <a:ea typeface="Calibri" pitchFamily="34" charset="-122"/>
                <a:cs typeface="Calibri" pitchFamily="34" charset="-120"/>
              </a:rPr>
              <a:t>6 of 9 held-out failures. They fail safe: it asks a question. The Gemini slot is meant for this.</a:t>
            </a:r>
            <a:endParaRPr lang="en-US" sz="1100" dirty="0"/>
          </a:p>
        </p:txBody>
      </p:sp>
      <p:sp>
        <p:nvSpPr>
          <p:cNvPr id="13" name="fail-card-2"/>
          <p:cNvSpPr/>
          <p:nvPr/>
        </p:nvSpPr>
        <p:spPr>
          <a:xfrm>
            <a:off x="5989320" y="1188720"/>
            <a:ext cx="2606040" cy="2514600"/>
          </a:xfrm>
          <a:prstGeom prst="roundRect">
            <a:avLst>
              <a:gd name="adj" fmla="val 2909"/>
            </a:avLst>
          </a:prstGeom>
          <a:solidFill>
            <a:schemeClr val="bg2"/>
          </a:solidFill>
          <a:ln w="12700">
            <a:solidFill>
              <a:schemeClr val="bg2"/>
            </a:solidFill>
            <a:prstDash val="solid"/>
          </a:ln>
        </p:spPr>
      </p:sp>
      <p:sp>
        <p:nvSpPr>
          <p:cNvPr id="14" name="fail-icon-2"/>
          <p:cNvSpPr/>
          <p:nvPr/>
        </p:nvSpPr>
        <p:spPr>
          <a:xfrm>
            <a:off x="6172200" y="1371600"/>
            <a:ext cx="502920" cy="502920"/>
          </a:xfrm>
          <a:prstGeom prst="ellipse">
            <a:avLst/>
          </a:prstGeom>
          <a:solidFill>
            <a:schemeClr val="accent3"/>
          </a:solidFill>
          <a:ln w="12700">
            <a:solidFill>
              <a:schemeClr val="accent3"/>
            </a:solidFill>
            <a:prstDash val="solid"/>
          </a:ln>
        </p:spPr>
      </p:sp>
      <p:pic>
        <p:nvPicPr>
          <p:cNvPr id="15" name="Image 2" descr="A paraphrased injection slips through">    </p:cNvPr>
          <p:cNvPicPr>
            <a:picLocks noChangeAspect="1"/>
          </p:cNvPicPr>
          <p:nvPr/>
        </p:nvPicPr>
        <p:blipFill>
          <a:blip r:embed="rId3"/>
          <a:stretch>
            <a:fillRect/>
          </a:stretch>
        </p:blipFill>
        <p:spPr>
          <a:xfrm>
            <a:off x="6300216" y="1499616"/>
            <a:ext cx="246888" cy="246888"/>
          </a:xfrm>
          <a:prstGeom prst="rect">
            <a:avLst/>
          </a:prstGeom>
        </p:spPr>
      </p:pic>
      <p:sp>
        <p:nvSpPr>
          <p:cNvPr id="16" name="Text 11"/>
          <p:cNvSpPr txBox="1"/>
          <p:nvPr/>
        </p:nvSpPr>
        <p:spPr>
          <a:xfrm>
            <a:off x="6172200" y="2011680"/>
            <a:ext cx="2286000" cy="594360"/>
          </a:xfrm>
          <a:prstGeom prst="rect">
            <a:avLst/>
          </a:prstGeom>
          <a:noFill/>
          <a:ln/>
        </p:spPr>
        <p:txBody>
          <a:bodyPr wrap="square" lIns="0" tIns="0" rIns="0" bIns="0" rtlCol="0" anchor="t"/>
          <a:lstStyle/>
          <a:p>
            <a:pPr indent="0" marL="0">
              <a:buNone/>
            </a:pPr>
            <a:r>
              <a:rPr lang="en-US" sz="1400" b="1" dirty="0">
                <a:solidFill>
                  <a:schemeClr val="tx1"/>
                </a:solidFill>
                <a:latin typeface="Calibri" pitchFamily="34" charset="0"/>
                <a:ea typeface="Calibri" pitchFamily="34" charset="-122"/>
                <a:cs typeface="Calibri" pitchFamily="34" charset="-120"/>
              </a:rPr>
              <a:t>A paraphrased injection slips through</a:t>
            </a:r>
            <a:endParaRPr lang="en-US" sz="1400" dirty="0"/>
          </a:p>
        </p:txBody>
      </p:sp>
      <p:sp>
        <p:nvSpPr>
          <p:cNvPr id="17" name="Text 12"/>
          <p:cNvSpPr txBox="1"/>
          <p:nvPr/>
        </p:nvSpPr>
        <p:spPr>
          <a:xfrm>
            <a:off x="6172200" y="2651760"/>
            <a:ext cx="2286000" cy="1005840"/>
          </a:xfrm>
          <a:prstGeom prst="rect">
            <a:avLst/>
          </a:prstGeom>
          <a:noFill/>
          <a:ln/>
        </p:spPr>
        <p:txBody>
          <a:bodyPr wrap="square" lIns="0" tIns="0" rIns="0" bIns="0" rtlCol="0" anchor="t"/>
          <a:lstStyle/>
          <a:p>
            <a:pPr indent="0" marL="0">
              <a:buNone/>
            </a:pPr>
            <a:r>
              <a:rPr lang="en-US" sz="1100" dirty="0">
                <a:solidFill>
                  <a:srgbClr val="4A5568"/>
                </a:solidFill>
                <a:latin typeface="Calibri" pitchFamily="34" charset="0"/>
                <a:ea typeface="Calibri" pitchFamily="34" charset="-122"/>
                <a:cs typeface="Calibri" pitchFamily="34" charset="-120"/>
              </a:rPr>
              <a:t>No trigger words, so the rules miss it. Allow-list, authorization and approval contain it. (FC-11)</a:t>
            </a:r>
            <a:endParaRPr lang="en-US" sz="1100" dirty="0"/>
          </a:p>
        </p:txBody>
      </p:sp>
      <p:sp>
        <p:nvSpPr>
          <p:cNvPr id="18" name="honest-strip"/>
          <p:cNvSpPr/>
          <p:nvPr/>
        </p:nvSpPr>
        <p:spPr>
          <a:xfrm>
            <a:off x="502920" y="3886200"/>
            <a:ext cx="8138160" cy="640080"/>
          </a:xfrm>
          <a:prstGeom prst="roundRect">
            <a:avLst>
              <a:gd name="adj" fmla="val 11429"/>
            </a:avLst>
          </a:prstGeom>
          <a:solidFill>
            <a:schemeClr val="tx1"/>
          </a:solidFill>
          <a:ln w="12700">
            <a:solidFill>
              <a:schemeClr val="tx1"/>
            </a:solidFill>
            <a:prstDash val="solid"/>
          </a:ln>
        </p:spPr>
      </p:sp>
      <p:sp>
        <p:nvSpPr>
          <p:cNvPr id="19" name="Text 14"/>
          <p:cNvSpPr txBox="1"/>
          <p:nvPr/>
        </p:nvSpPr>
        <p:spPr>
          <a:xfrm>
            <a:off x="731520" y="3931920"/>
            <a:ext cx="7680960" cy="54864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We did not tune the stand-in classifier or change any expectation to hide these. Each is recorded in the failure catalogue with a next step.</a:t>
            </a:r>
            <a:endParaRPr lang="en-US" sz="1300" dirty="0"/>
          </a:p>
        </p:txBody>
      </p:sp>
      <p:sp>
        <p:nvSpPr>
          <p:cNvPr id="25" name="Slide Number Placeholder 0"/>
          <p:cNvSpPr>
            <a:spLocks noGrp="1"/>
          </p:cNvSpPr>
          <p:nvPr>
            <p:ph type="sldNum" sz="quarter" idx="4294967295"/>
          </p:nvPr>
        </p:nvSpPr>
        <p:spPr>
          <a:xfrm>
            <a:off x="8412480" y="48006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8D99AE"/>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02920" y="274320"/>
            <a:ext cx="8138160" cy="777240"/>
          </a:xfrm>
          <a:prstGeom prst="rect">
            <a:avLst/>
          </a:prstGeom>
          <a:noFill/>
          <a:ln/>
        </p:spPr>
        <p:txBody>
          <a:bodyPr wrap="square" lIns="0" tIns="0" rIns="0" bIns="0" rtlCol="0" anchor="t"/>
          <a:lstStyle/>
          <a:p>
            <a:pPr indent="0" marL="0">
              <a:buNone/>
            </a:pPr>
            <a:r>
              <a:rPr lang="en-US" sz="2500" b="1" dirty="0">
                <a:solidFill>
                  <a:srgbClr val="0B1F33"/>
                </a:solidFill>
                <a:latin typeface="Georgia" pitchFamily="34" charset="0"/>
                <a:ea typeface="Georgia" pitchFamily="34" charset="-122"/>
                <a:cs typeface="Georgia" pitchFamily="34" charset="-120"/>
              </a:rPr>
              <a:t>What we learned</a:t>
            </a:r>
            <a:endParaRPr lang="en-US" sz="2500" dirty="0"/>
          </a:p>
        </p:txBody>
      </p:sp>
      <p:sp>
        <p:nvSpPr>
          <p:cNvPr id="3" name="lesson-card-0"/>
          <p:cNvSpPr/>
          <p:nvPr/>
        </p:nvSpPr>
        <p:spPr>
          <a:xfrm>
            <a:off x="502920" y="1188720"/>
            <a:ext cx="3977640" cy="1463040"/>
          </a:xfrm>
          <a:prstGeom prst="roundRect">
            <a:avLst>
              <a:gd name="adj" fmla="val 5000"/>
            </a:avLst>
          </a:prstGeom>
          <a:solidFill>
            <a:schemeClr val="bg2"/>
          </a:solidFill>
          <a:ln w="12700">
            <a:solidFill>
              <a:schemeClr val="bg2"/>
            </a:solidFill>
            <a:prstDash val="solid"/>
          </a:ln>
        </p:spPr>
      </p:sp>
      <p:sp>
        <p:nvSpPr>
          <p:cNvPr id="4" name="lesson-icon-0"/>
          <p:cNvSpPr/>
          <p:nvPr/>
        </p:nvSpPr>
        <p:spPr>
          <a:xfrm>
            <a:off x="685800" y="1389888"/>
            <a:ext cx="502920" cy="502920"/>
          </a:xfrm>
          <a:prstGeom prst="ellipse">
            <a:avLst/>
          </a:prstGeom>
          <a:solidFill>
            <a:schemeClr val="accent1"/>
          </a:solidFill>
          <a:ln w="12700">
            <a:solidFill>
              <a:schemeClr val="accent1"/>
            </a:solidFill>
            <a:prstDash val="solid"/>
          </a:ln>
        </p:spPr>
      </p:sp>
      <p:pic>
        <p:nvPicPr>
          <p:cNvPr id="5" name="Image 0" descr="Verify AI output">    </p:cNvPr>
          <p:cNvPicPr>
            <a:picLocks noChangeAspect="1"/>
          </p:cNvPicPr>
          <p:nvPr/>
        </p:nvPicPr>
        <p:blipFill>
          <a:blip r:embed="rId1"/>
          <a:stretch>
            <a:fillRect/>
          </a:stretch>
        </p:blipFill>
        <p:spPr>
          <a:xfrm>
            <a:off x="813816" y="1517904"/>
            <a:ext cx="246888" cy="246888"/>
          </a:xfrm>
          <a:prstGeom prst="rect">
            <a:avLst/>
          </a:prstGeom>
        </p:spPr>
      </p:pic>
      <p:sp>
        <p:nvSpPr>
          <p:cNvPr id="6" name="Text 3"/>
          <p:cNvSpPr txBox="1"/>
          <p:nvPr/>
        </p:nvSpPr>
        <p:spPr>
          <a:xfrm>
            <a:off x="1371600" y="1371600"/>
            <a:ext cx="2971800" cy="320040"/>
          </a:xfrm>
          <a:prstGeom prst="rect">
            <a:avLst/>
          </a:prstGeom>
          <a:noFill/>
          <a:ln/>
        </p:spPr>
        <p:txBody>
          <a:bodyPr wrap="square" lIns="0" tIns="0" rIns="0" bIns="0" rtlCol="0" anchor="ctr"/>
          <a:lstStyle/>
          <a:p>
            <a:pPr indent="0" marL="0">
              <a:buNone/>
            </a:pPr>
            <a:r>
              <a:rPr lang="en-US" sz="1600" b="1" dirty="0">
                <a:solidFill>
                  <a:schemeClr val="tx1"/>
                </a:solidFill>
                <a:latin typeface="Calibri" pitchFamily="34" charset="0"/>
                <a:ea typeface="Calibri" pitchFamily="34" charset="-122"/>
                <a:cs typeface="Calibri" pitchFamily="34" charset="-120"/>
              </a:rPr>
              <a:t>Verify AI output</a:t>
            </a:r>
            <a:endParaRPr lang="en-US" sz="1600" dirty="0"/>
          </a:p>
        </p:txBody>
      </p:sp>
      <p:sp>
        <p:nvSpPr>
          <p:cNvPr id="7" name="Text 4"/>
          <p:cNvSpPr txBox="1"/>
          <p:nvPr/>
        </p:nvSpPr>
        <p:spPr>
          <a:xfrm>
            <a:off x="1371600" y="1737360"/>
            <a:ext cx="2971800" cy="868680"/>
          </a:xfrm>
          <a:prstGeom prst="rect">
            <a:avLst/>
          </a:prstGeom>
          <a:noFill/>
          <a:ln/>
        </p:spPr>
        <p:txBody>
          <a:bodyPr wrap="square" lIns="0" tIns="0" rIns="0" bIns="0" rtlCol="0" anchor="t"/>
          <a:lstStyle/>
          <a:p>
            <a:pPr indent="0" marL="0">
              <a:buNone/>
            </a:pPr>
            <a:r>
              <a:rPr lang="en-US" sz="1150" dirty="0">
                <a:solidFill>
                  <a:srgbClr val="4A5568"/>
                </a:solidFill>
                <a:latin typeface="Calibri" pitchFamily="34" charset="0"/>
                <a:ea typeface="Calibri" pitchFamily="34" charset="-122"/>
                <a:cs typeface="Calibri" pitchFamily="34" charset="-120"/>
              </a:rPr>
              <a:t>Real errors: a shut-down model, untested claims, a wrong detector, wrong-audience guides. Each was caught by running it.</a:t>
            </a:r>
            <a:endParaRPr lang="en-US" sz="1150" dirty="0"/>
          </a:p>
        </p:txBody>
      </p:sp>
      <p:sp>
        <p:nvSpPr>
          <p:cNvPr id="8" name="lesson-card-1"/>
          <p:cNvSpPr/>
          <p:nvPr/>
        </p:nvSpPr>
        <p:spPr>
          <a:xfrm>
            <a:off x="4617720" y="1188720"/>
            <a:ext cx="3977640" cy="1463040"/>
          </a:xfrm>
          <a:prstGeom prst="roundRect">
            <a:avLst>
              <a:gd name="adj" fmla="val 5000"/>
            </a:avLst>
          </a:prstGeom>
          <a:solidFill>
            <a:schemeClr val="bg2"/>
          </a:solidFill>
          <a:ln w="12700">
            <a:solidFill>
              <a:schemeClr val="bg2"/>
            </a:solidFill>
            <a:prstDash val="solid"/>
          </a:ln>
        </p:spPr>
      </p:sp>
      <p:sp>
        <p:nvSpPr>
          <p:cNvPr id="9" name="lesson-icon-1"/>
          <p:cNvSpPr/>
          <p:nvPr/>
        </p:nvSpPr>
        <p:spPr>
          <a:xfrm>
            <a:off x="4800600" y="1389888"/>
            <a:ext cx="502920" cy="502920"/>
          </a:xfrm>
          <a:prstGeom prst="ellipse">
            <a:avLst/>
          </a:prstGeom>
          <a:solidFill>
            <a:schemeClr val="accent1"/>
          </a:solidFill>
          <a:ln w="12700">
            <a:solidFill>
              <a:schemeClr val="accent1"/>
            </a:solidFill>
            <a:prstDash val="solid"/>
          </a:ln>
        </p:spPr>
      </p:sp>
      <p:pic>
        <p:nvPicPr>
          <p:cNvPr id="10" name="Image 1" descr="Hold data out">    </p:cNvPr>
          <p:cNvPicPr>
            <a:picLocks noChangeAspect="1"/>
          </p:cNvPicPr>
          <p:nvPr/>
        </p:nvPicPr>
        <p:blipFill>
          <a:blip r:embed="rId2"/>
          <a:stretch>
            <a:fillRect/>
          </a:stretch>
        </p:blipFill>
        <p:spPr>
          <a:xfrm>
            <a:off x="4928616" y="1517904"/>
            <a:ext cx="246888" cy="246888"/>
          </a:xfrm>
          <a:prstGeom prst="rect">
            <a:avLst/>
          </a:prstGeom>
        </p:spPr>
      </p:pic>
      <p:sp>
        <p:nvSpPr>
          <p:cNvPr id="11" name="Text 7"/>
          <p:cNvSpPr txBox="1"/>
          <p:nvPr/>
        </p:nvSpPr>
        <p:spPr>
          <a:xfrm>
            <a:off x="5486400" y="1371600"/>
            <a:ext cx="2971800" cy="320040"/>
          </a:xfrm>
          <a:prstGeom prst="rect">
            <a:avLst/>
          </a:prstGeom>
          <a:noFill/>
          <a:ln/>
        </p:spPr>
        <p:txBody>
          <a:bodyPr wrap="square" lIns="0" tIns="0" rIns="0" bIns="0" rtlCol="0" anchor="ctr"/>
          <a:lstStyle/>
          <a:p>
            <a:pPr indent="0" marL="0">
              <a:buNone/>
            </a:pPr>
            <a:r>
              <a:rPr lang="en-US" sz="1600" b="1" dirty="0">
                <a:solidFill>
                  <a:schemeClr val="tx1"/>
                </a:solidFill>
                <a:latin typeface="Calibri" pitchFamily="34" charset="0"/>
                <a:ea typeface="Calibri" pitchFamily="34" charset="-122"/>
                <a:cs typeface="Calibri" pitchFamily="34" charset="-120"/>
              </a:rPr>
              <a:t>Hold data out</a:t>
            </a:r>
            <a:endParaRPr lang="en-US" sz="1600" dirty="0"/>
          </a:p>
        </p:txBody>
      </p:sp>
      <p:sp>
        <p:nvSpPr>
          <p:cNvPr id="12" name="Text 8"/>
          <p:cNvSpPr txBox="1"/>
          <p:nvPr/>
        </p:nvSpPr>
        <p:spPr>
          <a:xfrm>
            <a:off x="5486400" y="1737360"/>
            <a:ext cx="2971800" cy="868680"/>
          </a:xfrm>
          <a:prstGeom prst="rect">
            <a:avLst/>
          </a:prstGeom>
          <a:noFill/>
          <a:ln/>
        </p:spPr>
        <p:txBody>
          <a:bodyPr wrap="square" lIns="0" tIns="0" rIns="0" bIns="0" rtlCol="0" anchor="t"/>
          <a:lstStyle/>
          <a:p>
            <a:pPr indent="0" marL="0">
              <a:buNone/>
            </a:pPr>
            <a:r>
              <a:rPr lang="en-US" sz="1150" dirty="0">
                <a:solidFill>
                  <a:srgbClr val="4A5568"/>
                </a:solidFill>
                <a:latin typeface="Calibri" pitchFamily="34" charset="0"/>
                <a:ea typeface="Calibri" pitchFamily="34" charset="-122"/>
                <a:cs typeface="Calibri" pitchFamily="34" charset="-120"/>
              </a:rPr>
              <a:t>95.7% became 55% on new scenarios. One number hid the truth.</a:t>
            </a:r>
            <a:endParaRPr lang="en-US" sz="1150" dirty="0"/>
          </a:p>
        </p:txBody>
      </p:sp>
      <p:sp>
        <p:nvSpPr>
          <p:cNvPr id="13" name="lesson-card-2"/>
          <p:cNvSpPr/>
          <p:nvPr/>
        </p:nvSpPr>
        <p:spPr>
          <a:xfrm>
            <a:off x="502920" y="2788920"/>
            <a:ext cx="3977640" cy="1463040"/>
          </a:xfrm>
          <a:prstGeom prst="roundRect">
            <a:avLst>
              <a:gd name="adj" fmla="val 5000"/>
            </a:avLst>
          </a:prstGeom>
          <a:solidFill>
            <a:schemeClr val="bg2"/>
          </a:solidFill>
          <a:ln w="12700">
            <a:solidFill>
              <a:schemeClr val="bg2"/>
            </a:solidFill>
            <a:prstDash val="solid"/>
          </a:ln>
        </p:spPr>
      </p:sp>
      <p:sp>
        <p:nvSpPr>
          <p:cNvPr id="14" name="lesson-icon-2"/>
          <p:cNvSpPr/>
          <p:nvPr/>
        </p:nvSpPr>
        <p:spPr>
          <a:xfrm>
            <a:off x="685800" y="2990088"/>
            <a:ext cx="502920" cy="502920"/>
          </a:xfrm>
          <a:prstGeom prst="ellipse">
            <a:avLst/>
          </a:prstGeom>
          <a:solidFill>
            <a:schemeClr val="accent1"/>
          </a:solidFill>
          <a:ln w="12700">
            <a:solidFill>
              <a:schemeClr val="accent1"/>
            </a:solidFill>
            <a:prstDash val="solid"/>
          </a:ln>
        </p:spPr>
      </p:sp>
      <p:pic>
        <p:nvPicPr>
          <p:cNvPr id="15" name="Image 2" descr="Re-test after every fix">    </p:cNvPr>
          <p:cNvPicPr>
            <a:picLocks noChangeAspect="1"/>
          </p:cNvPicPr>
          <p:nvPr/>
        </p:nvPicPr>
        <p:blipFill>
          <a:blip r:embed="rId3"/>
          <a:stretch>
            <a:fillRect/>
          </a:stretch>
        </p:blipFill>
        <p:spPr>
          <a:xfrm>
            <a:off x="813816" y="3118104"/>
            <a:ext cx="246888" cy="246888"/>
          </a:xfrm>
          <a:prstGeom prst="rect">
            <a:avLst/>
          </a:prstGeom>
        </p:spPr>
      </p:pic>
      <p:sp>
        <p:nvSpPr>
          <p:cNvPr id="16" name="Text 11"/>
          <p:cNvSpPr txBox="1"/>
          <p:nvPr/>
        </p:nvSpPr>
        <p:spPr>
          <a:xfrm>
            <a:off x="1371600" y="2971800"/>
            <a:ext cx="2971800" cy="320040"/>
          </a:xfrm>
          <a:prstGeom prst="rect">
            <a:avLst/>
          </a:prstGeom>
          <a:noFill/>
          <a:ln/>
        </p:spPr>
        <p:txBody>
          <a:bodyPr wrap="square" lIns="0" tIns="0" rIns="0" bIns="0" rtlCol="0" anchor="ctr"/>
          <a:lstStyle/>
          <a:p>
            <a:pPr indent="0" marL="0">
              <a:buNone/>
            </a:pPr>
            <a:r>
              <a:rPr lang="en-US" sz="1600" b="1" dirty="0">
                <a:solidFill>
                  <a:schemeClr val="tx1"/>
                </a:solidFill>
                <a:latin typeface="Calibri" pitchFamily="34" charset="0"/>
                <a:ea typeface="Calibri" pitchFamily="34" charset="-122"/>
                <a:cs typeface="Calibri" pitchFamily="34" charset="-120"/>
              </a:rPr>
              <a:t>Re-test after every fix</a:t>
            </a:r>
            <a:endParaRPr lang="en-US" sz="1600" dirty="0"/>
          </a:p>
        </p:txBody>
      </p:sp>
      <p:sp>
        <p:nvSpPr>
          <p:cNvPr id="17" name="Text 12"/>
          <p:cNvSpPr txBox="1"/>
          <p:nvPr/>
        </p:nvSpPr>
        <p:spPr>
          <a:xfrm>
            <a:off x="1371600" y="3337560"/>
            <a:ext cx="2971800" cy="868680"/>
          </a:xfrm>
          <a:prstGeom prst="rect">
            <a:avLst/>
          </a:prstGeom>
          <a:noFill/>
          <a:ln/>
        </p:spPr>
        <p:txBody>
          <a:bodyPr wrap="square" lIns="0" tIns="0" rIns="0" bIns="0" rtlCol="0" anchor="t"/>
          <a:lstStyle/>
          <a:p>
            <a:pPr indent="0" marL="0">
              <a:buNone/>
            </a:pPr>
            <a:r>
              <a:rPr lang="en-US" sz="1150" dirty="0">
                <a:solidFill>
                  <a:srgbClr val="4A5568"/>
                </a:solidFill>
                <a:latin typeface="Calibri" pitchFamily="34" charset="0"/>
                <a:ea typeface="Calibri" pitchFamily="34" charset="-122"/>
                <a:cs typeface="Calibri" pitchFamily="34" charset="-120"/>
              </a:rPr>
              <a:t>Our first round of fixes caused four regressions. Regression gates now fail the build.</a:t>
            </a:r>
            <a:endParaRPr lang="en-US" sz="1150" dirty="0"/>
          </a:p>
        </p:txBody>
      </p:sp>
      <p:sp>
        <p:nvSpPr>
          <p:cNvPr id="18" name="lesson-card-3"/>
          <p:cNvSpPr/>
          <p:nvPr/>
        </p:nvSpPr>
        <p:spPr>
          <a:xfrm>
            <a:off x="4617720" y="2788920"/>
            <a:ext cx="3977640" cy="1463040"/>
          </a:xfrm>
          <a:prstGeom prst="roundRect">
            <a:avLst>
              <a:gd name="adj" fmla="val 5000"/>
            </a:avLst>
          </a:prstGeom>
          <a:solidFill>
            <a:schemeClr val="bg2"/>
          </a:solidFill>
          <a:ln w="12700">
            <a:solidFill>
              <a:schemeClr val="bg2"/>
            </a:solidFill>
            <a:prstDash val="solid"/>
          </a:ln>
        </p:spPr>
      </p:sp>
      <p:sp>
        <p:nvSpPr>
          <p:cNvPr id="19" name="lesson-icon-3"/>
          <p:cNvSpPr/>
          <p:nvPr/>
        </p:nvSpPr>
        <p:spPr>
          <a:xfrm>
            <a:off x="4800600" y="2990088"/>
            <a:ext cx="502920" cy="502920"/>
          </a:xfrm>
          <a:prstGeom prst="ellipse">
            <a:avLst/>
          </a:prstGeom>
          <a:solidFill>
            <a:schemeClr val="accent1"/>
          </a:solidFill>
          <a:ln w="12700">
            <a:solidFill>
              <a:schemeClr val="accent1"/>
            </a:solidFill>
            <a:prstDash val="solid"/>
          </a:ln>
        </p:spPr>
      </p:sp>
      <p:pic>
        <p:nvPicPr>
          <p:cNvPr id="20" name="Image 3" descr="Make control structural">    </p:cNvPr>
          <p:cNvPicPr>
            <a:picLocks noChangeAspect="1"/>
          </p:cNvPicPr>
          <p:nvPr/>
        </p:nvPicPr>
        <p:blipFill>
          <a:blip r:embed="rId4"/>
          <a:stretch>
            <a:fillRect/>
          </a:stretch>
        </p:blipFill>
        <p:spPr>
          <a:xfrm>
            <a:off x="4928616" y="3118104"/>
            <a:ext cx="246888" cy="246888"/>
          </a:xfrm>
          <a:prstGeom prst="rect">
            <a:avLst/>
          </a:prstGeom>
        </p:spPr>
      </p:pic>
      <p:sp>
        <p:nvSpPr>
          <p:cNvPr id="21" name="Text 15"/>
          <p:cNvSpPr txBox="1"/>
          <p:nvPr/>
        </p:nvSpPr>
        <p:spPr>
          <a:xfrm>
            <a:off x="5486400" y="2971800"/>
            <a:ext cx="2971800" cy="320040"/>
          </a:xfrm>
          <a:prstGeom prst="rect">
            <a:avLst/>
          </a:prstGeom>
          <a:noFill/>
          <a:ln/>
        </p:spPr>
        <p:txBody>
          <a:bodyPr wrap="square" lIns="0" tIns="0" rIns="0" bIns="0" rtlCol="0" anchor="ctr"/>
          <a:lstStyle/>
          <a:p>
            <a:pPr indent="0" marL="0">
              <a:buNone/>
            </a:pPr>
            <a:r>
              <a:rPr lang="en-US" sz="1600" b="1" dirty="0">
                <a:solidFill>
                  <a:schemeClr val="tx1"/>
                </a:solidFill>
                <a:latin typeface="Calibri" pitchFamily="34" charset="0"/>
                <a:ea typeface="Calibri" pitchFamily="34" charset="-122"/>
                <a:cs typeface="Calibri" pitchFamily="34" charset="-120"/>
              </a:rPr>
              <a:t>Make control structural</a:t>
            </a:r>
            <a:endParaRPr lang="en-US" sz="1600" dirty="0"/>
          </a:p>
        </p:txBody>
      </p:sp>
      <p:sp>
        <p:nvSpPr>
          <p:cNvPr id="22" name="Text 16"/>
          <p:cNvSpPr txBox="1"/>
          <p:nvPr/>
        </p:nvSpPr>
        <p:spPr>
          <a:xfrm>
            <a:off x="5486400" y="3337560"/>
            <a:ext cx="2971800" cy="868680"/>
          </a:xfrm>
          <a:prstGeom prst="rect">
            <a:avLst/>
          </a:prstGeom>
          <a:noFill/>
          <a:ln/>
        </p:spPr>
        <p:txBody>
          <a:bodyPr wrap="square" lIns="0" tIns="0" rIns="0" bIns="0" rtlCol="0" anchor="t"/>
          <a:lstStyle/>
          <a:p>
            <a:pPr indent="0" marL="0">
              <a:buNone/>
            </a:pPr>
            <a:r>
              <a:rPr lang="en-US" sz="1150" dirty="0">
                <a:solidFill>
                  <a:srgbClr val="4A5568"/>
                </a:solidFill>
                <a:latin typeface="Calibri" pitchFamily="34" charset="0"/>
                <a:ea typeface="Calibri" pitchFamily="34" charset="-122"/>
                <a:cs typeface="Calibri" pitchFamily="34" charset="-120"/>
              </a:rPr>
              <a:t>Approval, authorization and limits live in code paths, not in prompts.</a:t>
            </a:r>
            <a:endParaRPr lang="en-US" sz="1150" dirty="0"/>
          </a:p>
        </p:txBody>
      </p:sp>
      <p:sp>
        <p:nvSpPr>
          <p:cNvPr id="25" name="Slide Number Placeholder 0"/>
          <p:cNvSpPr>
            <a:spLocks noGrp="1"/>
          </p:cNvSpPr>
          <p:nvPr>
            <p:ph type="sldNum" sz="quarter" idx="4294967295"/>
          </p:nvPr>
        </p:nvSpPr>
        <p:spPr>
          <a:xfrm>
            <a:off x="8412480" y="48006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8D99AE"/>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02920" y="274320"/>
            <a:ext cx="8138160" cy="777240"/>
          </a:xfrm>
          <a:prstGeom prst="rect">
            <a:avLst/>
          </a:prstGeom>
          <a:noFill/>
          <a:ln/>
        </p:spPr>
        <p:txBody>
          <a:bodyPr wrap="square" lIns="0" tIns="0" rIns="0" bIns="0" rtlCol="0" anchor="t"/>
          <a:lstStyle/>
          <a:p>
            <a:pPr indent="0" marL="0">
              <a:buNone/>
            </a:pPr>
            <a:r>
              <a:rPr lang="en-US" sz="2500" b="1" dirty="0">
                <a:solidFill>
                  <a:srgbClr val="0B1F33"/>
                </a:solidFill>
                <a:latin typeface="Georgia" pitchFamily="34" charset="0"/>
                <a:ea typeface="Georgia" pitchFamily="34" charset="-122"/>
                <a:cs typeface="Georgia" pitchFamily="34" charset="-120"/>
              </a:rPr>
              <a:t>Next steps</a:t>
            </a:r>
            <a:endParaRPr lang="en-US" sz="2500" dirty="0"/>
          </a:p>
        </p:txBody>
      </p:sp>
      <p:sp>
        <p:nvSpPr>
          <p:cNvPr id="3" name="next-dot-0"/>
          <p:cNvSpPr/>
          <p:nvPr/>
        </p:nvSpPr>
        <p:spPr>
          <a:xfrm>
            <a:off x="548640" y="1188720"/>
            <a:ext cx="502920" cy="502920"/>
          </a:xfrm>
          <a:prstGeom prst="ellipse">
            <a:avLst/>
          </a:prstGeom>
          <a:solidFill>
            <a:schemeClr val="accent2"/>
          </a:solidFill>
          <a:ln w="12700">
            <a:solidFill>
              <a:schemeClr val="accent2"/>
            </a:solidFill>
            <a:prstDash val="solid"/>
          </a:ln>
        </p:spPr>
      </p:sp>
      <p:sp>
        <p:nvSpPr>
          <p:cNvPr id="4" name="Text 2"/>
          <p:cNvSpPr txBox="1"/>
          <p:nvPr/>
        </p:nvSpPr>
        <p:spPr>
          <a:xfrm>
            <a:off x="548640" y="1188720"/>
            <a:ext cx="502920" cy="502920"/>
          </a:xfrm>
          <a:prstGeom prst="rect">
            <a:avLst/>
          </a:prstGeom>
          <a:noFill/>
          <a:ln/>
        </p:spPr>
        <p:txBody>
          <a:bodyPr wrap="square" lIns="0" tIns="0" rIns="0" bIns="0" rtlCol="0" anchor="ctr"/>
          <a:lstStyle/>
          <a:p>
            <a:pPr algn="ctr" indent="0" marL="0">
              <a:buNone/>
            </a:pPr>
            <a:r>
              <a:rPr lang="en-US" sz="1800" b="1" dirty="0">
                <a:solidFill>
                  <a:schemeClr val="tx1"/>
                </a:solidFill>
                <a:latin typeface="Calibri" pitchFamily="34" charset="0"/>
                <a:ea typeface="Calibri" pitchFamily="34" charset="-122"/>
                <a:cs typeface="Calibri" pitchFamily="34" charset="-120"/>
              </a:rPr>
              <a:t>1</a:t>
            </a:r>
            <a:endParaRPr lang="en-US" sz="1800" dirty="0"/>
          </a:p>
        </p:txBody>
      </p:sp>
      <p:sp>
        <p:nvSpPr>
          <p:cNvPr id="5" name="Text 3"/>
          <p:cNvSpPr txBox="1"/>
          <p:nvPr/>
        </p:nvSpPr>
        <p:spPr>
          <a:xfrm>
            <a:off x="1280160" y="1170432"/>
            <a:ext cx="7223760" cy="292608"/>
          </a:xfrm>
          <a:prstGeom prst="rect">
            <a:avLst/>
          </a:prstGeom>
          <a:noFill/>
          <a:ln/>
        </p:spPr>
        <p:txBody>
          <a:bodyPr wrap="square" lIns="0" tIns="0" rIns="0" bIns="0" rtlCol="0" anchor="ctr"/>
          <a:lstStyle/>
          <a:p>
            <a:pPr indent="0" marL="0">
              <a:buNone/>
            </a:pPr>
            <a:r>
              <a:rPr lang="en-US" sz="1600" b="1" dirty="0">
                <a:solidFill>
                  <a:schemeClr val="tx1"/>
                </a:solidFill>
                <a:latin typeface="Calibri" pitchFamily="34" charset="0"/>
                <a:ea typeface="Calibri" pitchFamily="34" charset="-122"/>
                <a:cs typeface="Calibri" pitchFamily="34" charset="-120"/>
              </a:rPr>
              <a:t>Measure the Gemini classifier</a:t>
            </a:r>
            <a:endParaRPr lang="en-US" sz="1600" dirty="0"/>
          </a:p>
        </p:txBody>
      </p:sp>
      <p:sp>
        <p:nvSpPr>
          <p:cNvPr id="6" name="Text 4"/>
          <p:cNvSpPr txBox="1"/>
          <p:nvPr/>
        </p:nvSpPr>
        <p:spPr>
          <a:xfrm>
            <a:off x="1280160" y="1481328"/>
            <a:ext cx="7223760" cy="365760"/>
          </a:xfrm>
          <a:prstGeom prst="rect">
            <a:avLst/>
          </a:prstGeom>
          <a:noFill/>
          <a:ln/>
        </p:spPr>
        <p:txBody>
          <a:bodyPr wrap="square" lIns="0" tIns="0" rIns="0" bIns="0" rtlCol="0" anchor="ctr"/>
          <a:lstStyle/>
          <a:p>
            <a:pPr indent="0" marL="0">
              <a:buNone/>
            </a:pPr>
            <a:r>
              <a:rPr lang="en-US" sz="1200" dirty="0">
                <a:solidFill>
                  <a:srgbClr val="4A5568"/>
                </a:solidFill>
                <a:latin typeface="Calibri" pitchFamily="34" charset="0"/>
                <a:ea typeface="Calibri" pitchFamily="34" charset="-122"/>
                <a:cs typeface="Calibri" pitchFamily="34" charset="-120"/>
              </a:rPr>
              <a:t>Run gemini_eval.py and the harness with a key; compare with the 74% keyword baseline.</a:t>
            </a:r>
            <a:endParaRPr lang="en-US" sz="1200" dirty="0"/>
          </a:p>
        </p:txBody>
      </p:sp>
      <p:sp>
        <p:nvSpPr>
          <p:cNvPr id="7" name="next-dot-1"/>
          <p:cNvSpPr/>
          <p:nvPr/>
        </p:nvSpPr>
        <p:spPr>
          <a:xfrm>
            <a:off x="548640" y="2011680"/>
            <a:ext cx="502920" cy="502920"/>
          </a:xfrm>
          <a:prstGeom prst="ellipse">
            <a:avLst/>
          </a:prstGeom>
          <a:solidFill>
            <a:schemeClr val="accent1"/>
          </a:solidFill>
          <a:ln w="12700">
            <a:solidFill>
              <a:schemeClr val="accent1"/>
            </a:solidFill>
            <a:prstDash val="solid"/>
          </a:ln>
        </p:spPr>
      </p:sp>
      <p:sp>
        <p:nvSpPr>
          <p:cNvPr id="8" name="Text 6"/>
          <p:cNvSpPr txBox="1"/>
          <p:nvPr/>
        </p:nvSpPr>
        <p:spPr>
          <a:xfrm>
            <a:off x="548640" y="201168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9" name="Text 7"/>
          <p:cNvSpPr txBox="1"/>
          <p:nvPr/>
        </p:nvSpPr>
        <p:spPr>
          <a:xfrm>
            <a:off x="1280160" y="1993392"/>
            <a:ext cx="7223760" cy="292608"/>
          </a:xfrm>
          <a:prstGeom prst="rect">
            <a:avLst/>
          </a:prstGeom>
          <a:noFill/>
          <a:ln/>
        </p:spPr>
        <p:txBody>
          <a:bodyPr wrap="square" lIns="0" tIns="0" rIns="0" bIns="0" rtlCol="0" anchor="ctr"/>
          <a:lstStyle/>
          <a:p>
            <a:pPr indent="0" marL="0">
              <a:buNone/>
            </a:pPr>
            <a:r>
              <a:rPr lang="en-US" sz="1600" b="1" dirty="0">
                <a:solidFill>
                  <a:schemeClr val="tx1"/>
                </a:solidFill>
                <a:latin typeface="Calibri" pitchFamily="34" charset="0"/>
                <a:ea typeface="Calibri" pitchFamily="34" charset="-122"/>
                <a:cs typeface="Calibri" pitchFamily="34" charset="-120"/>
              </a:rPr>
              <a:t>Replace lexical retrieval</a:t>
            </a:r>
            <a:endParaRPr lang="en-US" sz="1600" dirty="0"/>
          </a:p>
        </p:txBody>
      </p:sp>
      <p:sp>
        <p:nvSpPr>
          <p:cNvPr id="10" name="Text 8"/>
          <p:cNvSpPr txBox="1"/>
          <p:nvPr/>
        </p:nvSpPr>
        <p:spPr>
          <a:xfrm>
            <a:off x="1280160" y="2304288"/>
            <a:ext cx="7223760" cy="365760"/>
          </a:xfrm>
          <a:prstGeom prst="rect">
            <a:avLst/>
          </a:prstGeom>
          <a:noFill/>
          <a:ln/>
        </p:spPr>
        <p:txBody>
          <a:bodyPr wrap="square" lIns="0" tIns="0" rIns="0" bIns="0" rtlCol="0" anchor="ctr"/>
          <a:lstStyle/>
          <a:p>
            <a:pPr indent="0" marL="0">
              <a:buNone/>
            </a:pPr>
            <a:r>
              <a:rPr lang="en-US" sz="1200" dirty="0">
                <a:solidFill>
                  <a:srgbClr val="4A5568"/>
                </a:solidFill>
                <a:latin typeface="Calibri" pitchFamily="34" charset="0"/>
                <a:ea typeface="Calibri" pitchFamily="34" charset="-122"/>
                <a:cs typeface="Calibri" pitchFamily="34" charset="-120"/>
              </a:rPr>
              <a:t>Embeddings plus a relevance check, aimed at FC-10.</a:t>
            </a:r>
            <a:endParaRPr lang="en-US" sz="1200" dirty="0"/>
          </a:p>
        </p:txBody>
      </p:sp>
      <p:sp>
        <p:nvSpPr>
          <p:cNvPr id="11" name="next-dot-2"/>
          <p:cNvSpPr/>
          <p:nvPr/>
        </p:nvSpPr>
        <p:spPr>
          <a:xfrm>
            <a:off x="548640" y="2834640"/>
            <a:ext cx="502920" cy="502920"/>
          </a:xfrm>
          <a:prstGeom prst="ellipse">
            <a:avLst/>
          </a:prstGeom>
          <a:solidFill>
            <a:schemeClr val="accent1"/>
          </a:solidFill>
          <a:ln w="12700">
            <a:solidFill>
              <a:schemeClr val="accent1"/>
            </a:solidFill>
            <a:prstDash val="solid"/>
          </a:ln>
        </p:spPr>
      </p:sp>
      <p:sp>
        <p:nvSpPr>
          <p:cNvPr id="12" name="Text 10"/>
          <p:cNvSpPr txBox="1"/>
          <p:nvPr/>
        </p:nvSpPr>
        <p:spPr>
          <a:xfrm>
            <a:off x="548640" y="283464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3" name="Text 11"/>
          <p:cNvSpPr txBox="1"/>
          <p:nvPr/>
        </p:nvSpPr>
        <p:spPr>
          <a:xfrm>
            <a:off x="1280160" y="2816352"/>
            <a:ext cx="7223760" cy="292608"/>
          </a:xfrm>
          <a:prstGeom prst="rect">
            <a:avLst/>
          </a:prstGeom>
          <a:noFill/>
          <a:ln/>
        </p:spPr>
        <p:txBody>
          <a:bodyPr wrap="square" lIns="0" tIns="0" rIns="0" bIns="0" rtlCol="0" anchor="ctr"/>
          <a:lstStyle/>
          <a:p>
            <a:pPr indent="0" marL="0">
              <a:buNone/>
            </a:pPr>
            <a:r>
              <a:rPr lang="en-US" sz="1600" b="1" dirty="0">
                <a:solidFill>
                  <a:schemeClr val="tx1"/>
                </a:solidFill>
                <a:latin typeface="Calibri" pitchFamily="34" charset="0"/>
                <a:ea typeface="Calibri" pitchFamily="34" charset="-122"/>
                <a:cs typeface="Calibri" pitchFamily="34" charset="-120"/>
              </a:rPr>
              <a:t>Stronger injection defence</a:t>
            </a:r>
            <a:endParaRPr lang="en-US" sz="1600" dirty="0"/>
          </a:p>
        </p:txBody>
      </p:sp>
      <p:sp>
        <p:nvSpPr>
          <p:cNvPr id="14" name="Text 12"/>
          <p:cNvSpPr txBox="1"/>
          <p:nvPr/>
        </p:nvSpPr>
        <p:spPr>
          <a:xfrm>
            <a:off x="1280160" y="3127248"/>
            <a:ext cx="7223760" cy="365760"/>
          </a:xfrm>
          <a:prstGeom prst="rect">
            <a:avLst/>
          </a:prstGeom>
          <a:noFill/>
          <a:ln/>
        </p:spPr>
        <p:txBody>
          <a:bodyPr wrap="square" lIns="0" tIns="0" rIns="0" bIns="0" rtlCol="0" anchor="ctr"/>
          <a:lstStyle/>
          <a:p>
            <a:pPr indent="0" marL="0">
              <a:buNone/>
            </a:pPr>
            <a:r>
              <a:rPr lang="en-US" sz="1200" dirty="0">
                <a:solidFill>
                  <a:srgbClr val="4A5568"/>
                </a:solidFill>
                <a:latin typeface="Calibri" pitchFamily="34" charset="0"/>
                <a:ea typeface="Calibri" pitchFamily="34" charset="-122"/>
                <a:cs typeface="Calibri" pitchFamily="34" charset="-120"/>
              </a:rPr>
              <a:t>A model-based detector and a larger red-team set (FC-11).</a:t>
            </a:r>
            <a:endParaRPr lang="en-US" sz="1200" dirty="0"/>
          </a:p>
        </p:txBody>
      </p:sp>
      <p:sp>
        <p:nvSpPr>
          <p:cNvPr id="15" name="next-dot-3"/>
          <p:cNvSpPr/>
          <p:nvPr/>
        </p:nvSpPr>
        <p:spPr>
          <a:xfrm>
            <a:off x="548640" y="3657600"/>
            <a:ext cx="502920" cy="502920"/>
          </a:xfrm>
          <a:prstGeom prst="ellipse">
            <a:avLst/>
          </a:prstGeom>
          <a:solidFill>
            <a:schemeClr val="accent1"/>
          </a:solidFill>
          <a:ln w="12700">
            <a:solidFill>
              <a:schemeClr val="accent1"/>
            </a:solidFill>
            <a:prstDash val="solid"/>
          </a:ln>
        </p:spPr>
      </p:sp>
      <p:sp>
        <p:nvSpPr>
          <p:cNvPr id="16" name="Text 14"/>
          <p:cNvSpPr txBox="1"/>
          <p:nvPr/>
        </p:nvSpPr>
        <p:spPr>
          <a:xfrm>
            <a:off x="548640" y="365760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17" name="Text 15"/>
          <p:cNvSpPr txBox="1"/>
          <p:nvPr/>
        </p:nvSpPr>
        <p:spPr>
          <a:xfrm>
            <a:off x="1280160" y="3639312"/>
            <a:ext cx="7223760" cy="292608"/>
          </a:xfrm>
          <a:prstGeom prst="rect">
            <a:avLst/>
          </a:prstGeom>
          <a:noFill/>
          <a:ln/>
        </p:spPr>
        <p:txBody>
          <a:bodyPr wrap="square" lIns="0" tIns="0" rIns="0" bIns="0" rtlCol="0" anchor="ctr"/>
          <a:lstStyle/>
          <a:p>
            <a:pPr indent="0" marL="0">
              <a:buNone/>
            </a:pPr>
            <a:r>
              <a:rPr lang="en-US" sz="1600" b="1" dirty="0">
                <a:solidFill>
                  <a:schemeClr val="tx1"/>
                </a:solidFill>
                <a:latin typeface="Calibri" pitchFamily="34" charset="0"/>
                <a:ea typeface="Calibri" pitchFamily="34" charset="-122"/>
                <a:cs typeface="Calibri" pitchFamily="34" charset="-120"/>
              </a:rPr>
              <a:t>Fresh held-out set each cycle</a:t>
            </a:r>
            <a:endParaRPr lang="en-US" sz="1600" dirty="0"/>
          </a:p>
        </p:txBody>
      </p:sp>
      <p:sp>
        <p:nvSpPr>
          <p:cNvPr id="18" name="Text 16"/>
          <p:cNvSpPr txBox="1"/>
          <p:nvPr/>
        </p:nvSpPr>
        <p:spPr>
          <a:xfrm>
            <a:off x="1280160" y="3950208"/>
            <a:ext cx="7223760" cy="365760"/>
          </a:xfrm>
          <a:prstGeom prst="rect">
            <a:avLst/>
          </a:prstGeom>
          <a:noFill/>
          <a:ln/>
        </p:spPr>
        <p:txBody>
          <a:bodyPr wrap="square" lIns="0" tIns="0" rIns="0" bIns="0" rtlCol="0" anchor="ctr"/>
          <a:lstStyle/>
          <a:p>
            <a:pPr indent="0" marL="0">
              <a:buNone/>
            </a:pPr>
            <a:r>
              <a:rPr lang="en-US" sz="1200" dirty="0">
                <a:solidFill>
                  <a:srgbClr val="4A5568"/>
                </a:solidFill>
                <a:latin typeface="Calibri" pitchFamily="34" charset="0"/>
                <a:ea typeface="Calibri" pitchFamily="34" charset="-122"/>
                <a:cs typeface="Calibri" pitchFamily="34" charset="-120"/>
              </a:rPr>
              <a:t>So the headline number stays honest; then a web interface and a real status service.</a:t>
            </a:r>
            <a:endParaRPr lang="en-US" sz="1200" dirty="0"/>
          </a:p>
        </p:txBody>
      </p:sp>
      <p:sp>
        <p:nvSpPr>
          <p:cNvPr id="25" name="Slide Number Placeholder 0"/>
          <p:cNvSpPr>
            <a:spLocks noGrp="1"/>
          </p:cNvSpPr>
          <p:nvPr>
            <p:ph type="sldNum" sz="quarter" idx="4294967295"/>
          </p:nvPr>
        </p:nvSpPr>
        <p:spPr>
          <a:xfrm>
            <a:off x="8412480" y="48006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8D99AE"/>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qa-circle-large"/>
          <p:cNvSpPr/>
          <p:nvPr/>
        </p:nvSpPr>
        <p:spPr>
          <a:xfrm>
            <a:off x="6309360" y="-822960"/>
            <a:ext cx="4206240" cy="4206240"/>
          </a:xfrm>
          <a:prstGeom prst="ellipse">
            <a:avLst/>
          </a:prstGeom>
          <a:solidFill>
            <a:schemeClr val="accent6"/>
          </a:solidFill>
          <a:ln w="12700">
            <a:solidFill>
              <a:schemeClr val="accent6"/>
            </a:solidFill>
            <a:prstDash val="solid"/>
          </a:ln>
        </p:spPr>
      </p:sp>
      <p:sp>
        <p:nvSpPr>
          <p:cNvPr id="3" name="qa-circle-small"/>
          <p:cNvSpPr/>
          <p:nvPr/>
        </p:nvSpPr>
        <p:spPr>
          <a:xfrm>
            <a:off x="7680960" y="3017520"/>
            <a:ext cx="2377440" cy="2377440"/>
          </a:xfrm>
          <a:prstGeom prst="ellipse">
            <a:avLst/>
          </a:prstGeom>
          <a:solidFill>
            <a:schemeClr val="accent1"/>
          </a:solidFill>
          <a:ln w="12700">
            <a:solidFill>
              <a:schemeClr val="accent1"/>
            </a:solidFill>
            <a:prstDash val="solid"/>
          </a:ln>
        </p:spPr>
      </p:sp>
      <p:sp>
        <p:nvSpPr>
          <p:cNvPr id="4" name="Text 2"/>
          <p:cNvSpPr txBox="1"/>
          <p:nvPr/>
        </p:nvSpPr>
        <p:spPr>
          <a:xfrm>
            <a:off x="548640" y="1097280"/>
            <a:ext cx="5486400" cy="822960"/>
          </a:xfrm>
          <a:prstGeom prst="rect">
            <a:avLst/>
          </a:prstGeom>
          <a:noFill/>
          <a:ln/>
        </p:spPr>
        <p:txBody>
          <a:bodyPr wrap="square" lIns="0" tIns="0" rIns="0" bIns="0" rtlCol="0" anchor="ctr"/>
          <a:lstStyle/>
          <a:p>
            <a:pPr indent="0" marL="0">
              <a:buNone/>
            </a:pPr>
            <a:r>
              <a:rPr lang="en-US" sz="4600" b="1" dirty="0">
                <a:solidFill>
                  <a:srgbClr val="FFFFFF"/>
                </a:solidFill>
                <a:latin typeface="Georgia" pitchFamily="34" charset="0"/>
                <a:ea typeface="Georgia" pitchFamily="34" charset="-122"/>
                <a:cs typeface="Georgia" pitchFamily="34" charset="-120"/>
              </a:rPr>
              <a:t>Questions?</a:t>
            </a:r>
            <a:endParaRPr lang="en-US" sz="4600" dirty="0"/>
          </a:p>
        </p:txBody>
      </p:sp>
      <p:sp>
        <p:nvSpPr>
          <p:cNvPr id="5" name="Text 3"/>
          <p:cNvSpPr txBox="1"/>
          <p:nvPr/>
        </p:nvSpPr>
        <p:spPr>
          <a:xfrm>
            <a:off x="548640" y="2286000"/>
            <a:ext cx="5486400" cy="274320"/>
          </a:xfrm>
          <a:prstGeom prst="rect">
            <a:avLst/>
          </a:prstGeom>
          <a:noFill/>
          <a:ln/>
        </p:spPr>
        <p:txBody>
          <a:bodyPr wrap="square" lIns="0" tIns="0" rIns="0" bIns="0" rtlCol="0" anchor="ctr"/>
          <a:lstStyle/>
          <a:p>
            <a:pPr indent="0" marL="0">
              <a:buNone/>
            </a:pPr>
            <a:r>
              <a:rPr lang="en-US" sz="1300" b="1" dirty="0">
                <a:solidFill>
                  <a:schemeClr val="accent2"/>
                </a:solidFill>
                <a:latin typeface="Calibri" pitchFamily="34" charset="0"/>
                <a:ea typeface="Calibri" pitchFamily="34" charset="-122"/>
                <a:cs typeface="Calibri" pitchFamily="34" charset="-120"/>
              </a:rPr>
              <a:t>Reproduce everything:</a:t>
            </a:r>
            <a:endParaRPr lang="en-US" sz="1300" dirty="0"/>
          </a:p>
        </p:txBody>
      </p:sp>
      <p:sp>
        <p:nvSpPr>
          <p:cNvPr id="6" name="Text 4"/>
          <p:cNvSpPr txBox="1"/>
          <p:nvPr/>
        </p:nvSpPr>
        <p:spPr>
          <a:xfrm>
            <a:off x="548640" y="2606040"/>
            <a:ext cx="5669280" cy="868680"/>
          </a:xfrm>
          <a:prstGeom prst="rect">
            <a:avLst/>
          </a:prstGeom>
          <a:noFill/>
          <a:ln/>
        </p:spPr>
        <p:txBody>
          <a:bodyPr wrap="square" lIns="0" tIns="0" rIns="0" bIns="0" rtlCol="0" anchor="t"/>
          <a:lstStyle/>
          <a:p>
            <a:pPr indent="0" marL="0">
              <a:buNone/>
            </a:pPr>
            <a:r>
              <a:rPr lang="en-US" sz="1300" dirty="0">
                <a:solidFill>
                  <a:srgbClr val="CADCFC"/>
                </a:solidFill>
                <a:latin typeface="Consolas" pitchFamily="34" charset="0"/>
                <a:ea typeface="Consolas" pitchFamily="34" charset="-122"/>
                <a:cs typeface="Consolas" pitchFamily="34" charset="-120"/>
              </a:rPr>
              <a:t>pip install -r requirements-dev.txt</a:t>
            </a:r>
            <a:endParaRPr lang="en-US" sz="1300" dirty="0"/>
          </a:p>
          <a:p>
            <a:pPr indent="0" marL="0">
              <a:buNone/>
            </a:pPr>
            <a:r>
              <a:rPr lang="en-US" sz="1300" dirty="0">
                <a:solidFill>
                  <a:srgbClr val="CADCFC"/>
                </a:solidFill>
                <a:latin typeface="Consolas" pitchFamily="34" charset="0"/>
                <a:ea typeface="Consolas" pitchFamily="34" charset="-122"/>
                <a:cs typeface="Consolas" pitchFamily="34" charset="-120"/>
              </a:rPr>
              <a:t>python -m pytest          (79 tests)</a:t>
            </a:r>
            <a:endParaRPr lang="en-US" sz="1300" dirty="0"/>
          </a:p>
          <a:p>
            <a:pPr indent="0" marL="0">
              <a:buNone/>
            </a:pPr>
            <a:r>
              <a:rPr lang="en-US" sz="1300" dirty="0">
                <a:solidFill>
                  <a:srgbClr val="CADCFC"/>
                </a:solidFill>
                <a:latin typeface="Consolas" pitchFamily="34" charset="0"/>
                <a:ea typeface="Consolas" pitchFamily="34" charset="-122"/>
                <a:cs typeface="Consolas" pitchFamily="34" charset="-120"/>
              </a:rPr>
              <a:t>python src/run_demo.py</a:t>
            </a:r>
            <a:endParaRPr lang="en-US" sz="1300" dirty="0"/>
          </a:p>
        </p:txBody>
      </p:sp>
      <p:sp>
        <p:nvSpPr>
          <p:cNvPr id="7" name="Text 5"/>
          <p:cNvSpPr txBox="1"/>
          <p:nvPr/>
        </p:nvSpPr>
        <p:spPr>
          <a:xfrm>
            <a:off x="548640" y="4343400"/>
            <a:ext cx="6400800" cy="274320"/>
          </a:xfrm>
          <a:prstGeom prst="rect">
            <a:avLst/>
          </a:prstGeom>
          <a:noFill/>
          <a:ln/>
        </p:spPr>
        <p:txBody>
          <a:bodyPr wrap="square" lIns="0" tIns="0" rIns="0" bIns="0" rtlCol="0" anchor="ctr"/>
          <a:lstStyle/>
          <a:p>
            <a:pPr indent="0" marL="0">
              <a:buNone/>
            </a:pPr>
            <a:r>
              <a:rPr lang="en-US" sz="1100" dirty="0">
                <a:solidFill>
                  <a:srgbClr val="8D99AE"/>
                </a:solidFill>
                <a:latin typeface="Calibri" pitchFamily="34" charset="0"/>
                <a:ea typeface="Calibri" pitchFamily="34" charset="-122"/>
                <a:cs typeface="Calibri" pitchFamily="34" charset="-120"/>
              </a:rPr>
              <a:t>github.com/mashimwe/GROUP-F-Capstone-  ·  v1.0.0</a:t>
            </a:r>
            <a:endParaRPr lang="en-US" sz="1100" dirty="0"/>
          </a:p>
        </p:txBody>
      </p:sp>
    </p:spTree>
  </p:cSld>
  <p:clrMapOvr>
    <a:masterClrMapping/>
  </p:clrMapOvr>
</p:sld>
</file>

<file path=ppt/theme/theme1.xml><?xml version="1.0" encoding="utf-8"?>
<a:theme xmlns:a="http://schemas.openxmlformats.org/drawingml/2006/main" name="ServiceFlow">
  <a:themeElements>
    <a:clrScheme name="ServiceFlow">
      <a:dk1>
        <a:srgbClr val="0B1F33"/>
      </a:dk1>
      <a:lt1>
        <a:srgbClr val="FFFFFF"/>
      </a:lt1>
      <a:dk2>
        <a:srgbClr val="13315C"/>
      </a:dk2>
      <a:lt2>
        <a:srgbClr val="EEF3F8"/>
      </a:lt2>
      <a:accent1>
        <a:srgbClr val="1F7A8C"/>
      </a:accent1>
      <a:accent2>
        <a:srgbClr val="F2A541"/>
      </a:accent2>
      <a:accent3>
        <a:srgbClr val="C8553D"/>
      </a:accent3>
      <a:accent4>
        <a:srgbClr val="4C9F70"/>
      </a:accent4>
      <a:accent5>
        <a:srgbClr val="8D99AE"/>
      </a:accent5>
      <a:accent6>
        <a:srgbClr val="3D5A80"/>
      </a:accent6>
      <a:hlink>
        <a:srgbClr val="1F7A8C"/>
      </a:hlink>
      <a:folHlink>
        <a:srgbClr val="8D99AE"/>
      </a:folHlink>
    </a:clrScheme>
    <a:fontScheme name="ServiceFlow">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ServiceFlow: final presentation</dc:title>
  <dc:subject>PptxGenJS Presentation</dc:subject>
  <dc:creator>Group F, BSE4104</dc:creator>
  <cp:lastModifiedBy>Group F, BSE4104</cp:lastModifiedBy>
  <cp:revision>1</cp:revision>
  <dcterms:created xsi:type="dcterms:W3CDTF">2026-10-22T04:53:08Z</dcterms:created>
  <dcterms:modified xsi:type="dcterms:W3CDTF">2026-10-22T04:53:08Z</dcterms:modified>
</cp:coreProperties>
</file>